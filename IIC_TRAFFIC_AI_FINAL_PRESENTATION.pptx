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anikandan-5027.github.io/IIC-Traffic-AI-2/" TargetMode="External"/><Relationship Id="rId4" Type="http://schemas.openxmlformats.org/officeDocument/2006/relationships/hyperlink" Target="https://github.com/MANIKANDAN-5027/IIC-Traffic-AI-2" TargetMode="External"/><Relationship Id="rId5"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 Id="rId3" Type="http://schemas.openxmlformats.org/officeDocument/2006/relationships/image" Target="../media/image6.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nikandan-5027.github.io/IIC-Traffic-AI-2/" TargetMode="External"/><Relationship Id="rId3" Type="http://schemas.openxmlformats.org/officeDocument/2006/relationships/hyperlink" Target="https://github.com/MANIKANDAN-5027/IIC-Traffic-AI-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lide_1_Picture_74.png"/>
          <p:cNvPicPr>
            <a:picLocks noChangeAspect="1"/>
          </p:cNvPicPr>
          <p:nvPr/>
        </p:nvPicPr>
        <p:blipFill>
          <a:blip r:embed="rId2"/>
          <a:stretch>
            <a:fillRect/>
          </a:stretch>
        </p:blipFill>
        <p:spPr>
          <a:xfrm>
            <a:off x="800000" y="600000"/>
            <a:ext cx="2400000" cy="780000"/>
          </a:xfrm>
          <a:prstGeom prst="rect">
            <a:avLst/>
          </a:prstGeom>
        </p:spPr>
      </p:pic>
      <p:sp>
        <p:nvSpPr>
          <p:cNvPr id="4" name="TextBox 3"/>
          <p:cNvSpPr txBox="1"/>
          <p:nvPr/>
        </p:nvSpPr>
        <p:spPr>
          <a:xfrm>
            <a:off x="800000" y="1600000"/>
            <a:ext cx="5000000" cy="1800000"/>
          </a:xfrm>
          <a:prstGeom prst="rect">
            <a:avLst/>
          </a:prstGeom>
          <a:noFill/>
        </p:spPr>
        <p:txBody>
          <a:bodyPr wrap="square" lIns="0" tIns="0">
            <a:spAutoFit/>
          </a:bodyPr>
          <a:lstStyle/>
          <a:p>
            <a:r>
              <a:rPr sz="3600" b="1">
                <a:solidFill>
                  <a:srgbClr val="0F172A"/>
                </a:solidFill>
              </a:rPr>
              <a:t>IIC TRAFFIC AI
</a:t>
            </a:r>
          </a:p>
          <a:p>
            <a:r>
              <a:rPr sz="1400" b="1">
                <a:solidFill>
                  <a:srgbClr val="2563EB"/>
                </a:solidFill>
              </a:rPr>
              <a:t>AI-Based Traffic Congestion Prediction &amp; Intelligent Route Optimization System</a:t>
            </a:r>
          </a:p>
        </p:txBody>
      </p:sp>
      <p:sp>
        <p:nvSpPr>
          <p:cNvPr id="5" name="Rounded Rectangle 4"/>
          <p:cNvSpPr/>
          <p:nvPr/>
        </p:nvSpPr>
        <p:spPr>
          <a:xfrm>
            <a:off x="800000" y="3600000"/>
            <a:ext cx="4800000" cy="1800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0000" tIns="160000"/>
          <a:lstStyle/>
          <a:p>
            <a:pPr algn="ctr"/>
            <a:r>
              <a:rPr sz="1050" b="1">
                <a:solidFill>
                  <a:srgbClr val="64748B"/>
                </a:solidFill>
              </a:rPr>
              <a:t>Team Lead: </a:t>
            </a:r>
            <a:r>
              <a:rPr sz="1100" b="1">
                <a:solidFill>
                  <a:srgbClr val="1E293B"/>
                </a:solidFill>
              </a:rPr>
              <a:t>Rakesh Kumar S</a:t>
            </a:r>
          </a:p>
          <a:p>
            <a:r>
              <a:rPr sz="1050" b="1">
                <a:solidFill>
                  <a:srgbClr val="64748B"/>
                </a:solidFill>
              </a:rPr>
              <a:t>Team Member: </a:t>
            </a:r>
            <a:r>
              <a:rPr sz="1100" b="1">
                <a:solidFill>
                  <a:srgbClr val="1E293B"/>
                </a:solidFill>
              </a:rPr>
              <a:t>Manikandan S</a:t>
            </a:r>
          </a:p>
          <a:p>
            <a:r>
              <a:rPr sz="1050" b="1">
                <a:solidFill>
                  <a:srgbClr val="64748B"/>
                </a:solidFill>
              </a:rPr>
              <a:t>Mentor: </a:t>
            </a:r>
            <a:r>
              <a:rPr sz="1100" b="1">
                <a:solidFill>
                  <a:srgbClr val="1E293B"/>
                </a:solidFill>
              </a:rPr>
              <a:t>SANTHOSH P</a:t>
            </a:r>
          </a:p>
          <a:p>
            <a:r>
              <a:rPr sz="1050" b="1">
                <a:solidFill>
                  <a:srgbClr val="64748B"/>
                </a:solidFill>
              </a:rPr>
              <a:t>Institution: </a:t>
            </a:r>
            <a:r>
              <a:rPr sz="1100" b="1">
                <a:solidFill>
                  <a:srgbClr val="1E293B"/>
                </a:solidFill>
              </a:rPr>
              <a:t>University College of Engineering Villupuram</a:t>
            </a:r>
          </a:p>
        </p:txBody>
      </p:sp>
      <p:sp>
        <p:nvSpPr>
          <p:cNvPr id="6" name="Rounded Rectangle 5"/>
          <p:cNvSpPr/>
          <p:nvPr/>
        </p:nvSpPr>
        <p:spPr>
          <a:xfrm>
            <a:off x="800000" y="5600000"/>
            <a:ext cx="4800000" cy="80000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0000" tIns="120000"/>
          <a:lstStyle/>
          <a:p>
            <a:pPr algn="ctr"/>
            <a:r>
              <a:rPr sz="1050" b="1">
                <a:solidFill>
                  <a:srgbClr val="0F172A"/>
                </a:solidFill>
              </a:rPr>
              <a:t>🌐 Live Demo: </a:t>
            </a:r>
            <a:r>
              <a:rPr sz="1050" b="1" u="sng">
                <a:solidFill>
                  <a:srgbClr val="2563EB"/>
                </a:solidFill>
                <a:hlinkClick r:id="rId3"/>
              </a:rPr>
              <a:t>manikandan-5027.github.io/IIC-Traffic-AI-2/</a:t>
            </a:r>
          </a:p>
          <a:p>
            <a:r>
              <a:rPr sz="1050" b="1">
                <a:solidFill>
                  <a:srgbClr val="0F172A"/>
                </a:solidFill>
              </a:rPr>
              <a:t>💻 GitHub: </a:t>
            </a:r>
            <a:r>
              <a:rPr sz="1050" b="1" u="sng">
                <a:solidFill>
                  <a:srgbClr val="2563EB"/>
                </a:solidFill>
                <a:hlinkClick r:id="rId4"/>
              </a:rPr>
              <a:t>github.com/MANIKANDAN-5027/IIC-Traffic-AI-2</a:t>
            </a:r>
          </a:p>
        </p:txBody>
      </p:sp>
      <p:pic>
        <p:nvPicPr>
          <p:cNvPr id="7" name="Picture 6" descr="smart_city_ai_traffic_cover_1793005410486.jpg"/>
          <p:cNvPicPr>
            <a:picLocks noChangeAspect="1"/>
          </p:cNvPicPr>
          <p:nvPr/>
        </p:nvPicPr>
        <p:blipFill>
          <a:blip r:embed="rId5"/>
          <a:stretch>
            <a:fillRect/>
          </a:stretch>
        </p:blipFill>
        <p:spPr>
          <a:xfrm>
            <a:off x="5900000" y="800000"/>
            <a:ext cx="5700000" cy="5600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Project Objectives &amp; Agenda</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0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0000" y="1220000"/>
            <a:ext cx="5000000" cy="750000"/>
          </a:xfrm>
          <a:prstGeom prst="rect">
            <a:avLst/>
          </a:prstGeom>
          <a:noFill/>
        </p:spPr>
        <p:txBody>
          <a:bodyPr wrap="square" lIns="0" tIns="0">
            <a:spAutoFit/>
          </a:bodyPr>
          <a:lstStyle/>
          <a:p>
            <a:r>
              <a:rPr sz="1400" b="1">
                <a:solidFill>
                  <a:srgbClr val="2563EB"/>
                </a:solidFill>
              </a:rPr>
              <a:t>01  </a:t>
            </a:r>
            <a:r>
              <a:rPr sz="1300" b="1">
                <a:solidFill>
                  <a:srgbClr val="0F172A"/>
                </a:solidFill>
              </a:rPr>
              <a:t>Problem Statement
</a:t>
            </a:r>
          </a:p>
          <a:p>
            <a:r>
              <a:rPr sz="950">
                <a:solidFill>
                  <a:srgbClr val="64748B"/>
                </a:solidFill>
              </a:rPr>
              <a:t>Congestion uncertainty, scattered data, decision complexity</a:t>
            </a:r>
          </a:p>
        </p:txBody>
      </p:sp>
      <p:sp>
        <p:nvSpPr>
          <p:cNvPr id="8" name="Rounded Rectangle 7"/>
          <p:cNvSpPr/>
          <p:nvPr/>
        </p:nvSpPr>
        <p:spPr>
          <a:xfrm>
            <a:off x="6200000" y="110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0" y="1220000"/>
            <a:ext cx="5000000" cy="750000"/>
          </a:xfrm>
          <a:prstGeom prst="rect">
            <a:avLst/>
          </a:prstGeom>
          <a:noFill/>
        </p:spPr>
        <p:txBody>
          <a:bodyPr wrap="square" lIns="0" tIns="0">
            <a:spAutoFit/>
          </a:bodyPr>
          <a:lstStyle/>
          <a:p>
            <a:r>
              <a:rPr sz="1400" b="1">
                <a:solidFill>
                  <a:srgbClr val="2563EB"/>
                </a:solidFill>
              </a:rPr>
              <a:t>02  </a:t>
            </a:r>
            <a:r>
              <a:rPr sz="1300" b="1">
                <a:solidFill>
                  <a:srgbClr val="0F172A"/>
                </a:solidFill>
              </a:rPr>
              <a:t>Project Overview
</a:t>
            </a:r>
          </a:p>
          <a:p>
            <a:r>
              <a:rPr sz="950">
                <a:solidFill>
                  <a:srgbClr val="64748B"/>
                </a:solidFill>
              </a:rPr>
              <a:t>Web dashboard turning CSV traffic data into intelligent decisions</a:t>
            </a:r>
          </a:p>
        </p:txBody>
      </p:sp>
      <p:sp>
        <p:nvSpPr>
          <p:cNvPr id="10" name="Rounded Rectangle 9"/>
          <p:cNvSpPr/>
          <p:nvPr/>
        </p:nvSpPr>
        <p:spPr>
          <a:xfrm>
            <a:off x="600000" y="215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0000" y="2270000"/>
            <a:ext cx="5000000" cy="750000"/>
          </a:xfrm>
          <a:prstGeom prst="rect">
            <a:avLst/>
          </a:prstGeom>
          <a:noFill/>
        </p:spPr>
        <p:txBody>
          <a:bodyPr wrap="square" lIns="0" tIns="0">
            <a:spAutoFit/>
          </a:bodyPr>
          <a:lstStyle/>
          <a:p>
            <a:r>
              <a:rPr sz="1400" b="1">
                <a:solidFill>
                  <a:srgbClr val="2563EB"/>
                </a:solidFill>
              </a:rPr>
              <a:t>03  </a:t>
            </a:r>
            <a:r>
              <a:rPr sz="1300" b="1">
                <a:solidFill>
                  <a:srgbClr val="0F172A"/>
                </a:solidFill>
              </a:rPr>
              <a:t>End Users &amp; Personas
</a:t>
            </a:r>
          </a:p>
          <a:p>
            <a:r>
              <a:rPr sz="950">
                <a:solidFill>
                  <a:srgbClr val="64748B"/>
                </a:solidFill>
              </a:rPr>
              <a:t>Targeted benefits for Bikes, Cars, Heavy Vehicles &amp; Urban Planners</a:t>
            </a:r>
          </a:p>
        </p:txBody>
      </p:sp>
      <p:sp>
        <p:nvSpPr>
          <p:cNvPr id="12" name="Rounded Rectangle 11"/>
          <p:cNvSpPr/>
          <p:nvPr/>
        </p:nvSpPr>
        <p:spPr>
          <a:xfrm>
            <a:off x="6200000" y="215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000" y="2270000"/>
            <a:ext cx="5000000" cy="750000"/>
          </a:xfrm>
          <a:prstGeom prst="rect">
            <a:avLst/>
          </a:prstGeom>
          <a:noFill/>
        </p:spPr>
        <p:txBody>
          <a:bodyPr wrap="square" lIns="0" tIns="0">
            <a:spAutoFit/>
          </a:bodyPr>
          <a:lstStyle/>
          <a:p>
            <a:r>
              <a:rPr sz="1400" b="1">
                <a:solidFill>
                  <a:srgbClr val="2563EB"/>
                </a:solidFill>
              </a:rPr>
              <a:t>04  </a:t>
            </a:r>
            <a:r>
              <a:rPr sz="1300" b="1">
                <a:solidFill>
                  <a:srgbClr val="0F172A"/>
                </a:solidFill>
              </a:rPr>
              <a:t>Key Innovations (Wow Factors)
</a:t>
            </a:r>
          </a:p>
          <a:p>
            <a:r>
              <a:rPr sz="950">
                <a:solidFill>
                  <a:srgbClr val="64748B"/>
                </a:solidFill>
              </a:rPr>
              <a:t>Explainable AI, real OSRM road paths, village search &amp; live tags</a:t>
            </a:r>
          </a:p>
        </p:txBody>
      </p:sp>
      <p:sp>
        <p:nvSpPr>
          <p:cNvPr id="14" name="Rounded Rectangle 13"/>
          <p:cNvSpPr/>
          <p:nvPr/>
        </p:nvSpPr>
        <p:spPr>
          <a:xfrm>
            <a:off x="600000" y="320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0000" y="3320000"/>
            <a:ext cx="5000000" cy="750000"/>
          </a:xfrm>
          <a:prstGeom prst="rect">
            <a:avLst/>
          </a:prstGeom>
          <a:noFill/>
        </p:spPr>
        <p:txBody>
          <a:bodyPr wrap="square" lIns="0" tIns="0">
            <a:spAutoFit/>
          </a:bodyPr>
          <a:lstStyle/>
          <a:p>
            <a:r>
              <a:rPr sz="1400" b="1">
                <a:solidFill>
                  <a:srgbClr val="2563EB"/>
                </a:solidFill>
              </a:rPr>
              <a:t>05  </a:t>
            </a:r>
            <a:r>
              <a:rPr sz="1300" b="1">
                <a:solidFill>
                  <a:srgbClr val="0F172A"/>
                </a:solidFill>
              </a:rPr>
              <a:t>Architecture &amp; System Flow
</a:t>
            </a:r>
          </a:p>
          <a:p>
            <a:r>
              <a:rPr sz="950">
                <a:solidFill>
                  <a:srgbClr val="64748B"/>
                </a:solidFill>
              </a:rPr>
              <a:t>Data ingestion -&gt; Flask / Serverless Engine -&gt; Leaflet Frontend</a:t>
            </a:r>
          </a:p>
        </p:txBody>
      </p:sp>
      <p:sp>
        <p:nvSpPr>
          <p:cNvPr id="16" name="Rounded Rectangle 15"/>
          <p:cNvSpPr/>
          <p:nvPr/>
        </p:nvSpPr>
        <p:spPr>
          <a:xfrm>
            <a:off x="6200000" y="320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0" y="3320000"/>
            <a:ext cx="5000000" cy="750000"/>
          </a:xfrm>
          <a:prstGeom prst="rect">
            <a:avLst/>
          </a:prstGeom>
          <a:noFill/>
        </p:spPr>
        <p:txBody>
          <a:bodyPr wrap="square" lIns="0" tIns="0">
            <a:spAutoFit/>
          </a:bodyPr>
          <a:lstStyle/>
          <a:p>
            <a:r>
              <a:rPr sz="1400" b="1">
                <a:solidFill>
                  <a:srgbClr val="2563EB"/>
                </a:solidFill>
              </a:rPr>
              <a:t>06  </a:t>
            </a:r>
            <a:r>
              <a:rPr sz="1300" b="1">
                <a:solidFill>
                  <a:srgbClr val="0F172A"/>
                </a:solidFill>
              </a:rPr>
              <a:t>Vehicle-Aware Optimization
</a:t>
            </a:r>
          </a:p>
          <a:p>
            <a:r>
              <a:rPr sz="950">
                <a:solidFill>
                  <a:srgbClr val="64748B"/>
                </a:solidFill>
              </a:rPr>
              <a:t>Customized routing parameters and road constraints per vehicle class</a:t>
            </a:r>
          </a:p>
        </p:txBody>
      </p:sp>
      <p:sp>
        <p:nvSpPr>
          <p:cNvPr id="18" name="Rounded Rectangle 17"/>
          <p:cNvSpPr/>
          <p:nvPr/>
        </p:nvSpPr>
        <p:spPr>
          <a:xfrm>
            <a:off x="600000" y="425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0000" y="4370000"/>
            <a:ext cx="5000000" cy="750000"/>
          </a:xfrm>
          <a:prstGeom prst="rect">
            <a:avLst/>
          </a:prstGeom>
          <a:noFill/>
        </p:spPr>
        <p:txBody>
          <a:bodyPr wrap="square" lIns="0" tIns="0">
            <a:spAutoFit/>
          </a:bodyPr>
          <a:lstStyle/>
          <a:p>
            <a:r>
              <a:rPr sz="1400" b="1">
                <a:solidFill>
                  <a:srgbClr val="2563EB"/>
                </a:solidFill>
              </a:rPr>
              <a:t>07  </a:t>
            </a:r>
            <a:r>
              <a:rPr sz="1300" b="1">
                <a:solidFill>
                  <a:srgbClr val="0F172A"/>
                </a:solidFill>
              </a:rPr>
              <a:t>Toll Cost &amp; Pollution (AQI)
</a:t>
            </a:r>
          </a:p>
          <a:p>
            <a:r>
              <a:rPr sz="950">
                <a:solidFill>
                  <a:srgbClr val="64748B"/>
                </a:solidFill>
              </a:rPr>
              <a:t>Automated toll plaza calculation &amp; air quality exposure along routes</a:t>
            </a:r>
          </a:p>
        </p:txBody>
      </p:sp>
      <p:sp>
        <p:nvSpPr>
          <p:cNvPr id="20" name="Rounded Rectangle 19"/>
          <p:cNvSpPr/>
          <p:nvPr/>
        </p:nvSpPr>
        <p:spPr>
          <a:xfrm>
            <a:off x="6200000" y="425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0000" y="4370000"/>
            <a:ext cx="5000000" cy="750000"/>
          </a:xfrm>
          <a:prstGeom prst="rect">
            <a:avLst/>
          </a:prstGeom>
          <a:noFill/>
        </p:spPr>
        <p:txBody>
          <a:bodyPr wrap="square" lIns="0" tIns="0">
            <a:spAutoFit/>
          </a:bodyPr>
          <a:lstStyle/>
          <a:p>
            <a:r>
              <a:rPr sz="1400" b="1">
                <a:solidFill>
                  <a:srgbClr val="2563EB"/>
                </a:solidFill>
              </a:rPr>
              <a:t>08  </a:t>
            </a:r>
            <a:r>
              <a:rPr sz="1300" b="1">
                <a:solidFill>
                  <a:srgbClr val="0F172A"/>
                </a:solidFill>
              </a:rPr>
              <a:t>Results &amp; Live Outcomes
</a:t>
            </a:r>
          </a:p>
          <a:p>
            <a:r>
              <a:rPr sz="950">
                <a:solidFill>
                  <a:srgbClr val="64748B"/>
                </a:solidFill>
              </a:rPr>
              <a:t>Demonstration of live dashboard, map overlays and route rankings</a:t>
            </a:r>
          </a:p>
        </p:txBody>
      </p:sp>
      <p:sp>
        <p:nvSpPr>
          <p:cNvPr id="22" name="Rounded Rectangle 21"/>
          <p:cNvSpPr/>
          <p:nvPr/>
        </p:nvSpPr>
        <p:spPr>
          <a:xfrm>
            <a:off x="600000" y="530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0000" y="5420000"/>
            <a:ext cx="5000000" cy="750000"/>
          </a:xfrm>
          <a:prstGeom prst="rect">
            <a:avLst/>
          </a:prstGeom>
          <a:noFill/>
        </p:spPr>
        <p:txBody>
          <a:bodyPr wrap="square" lIns="0" tIns="0">
            <a:spAutoFit/>
          </a:bodyPr>
          <a:lstStyle/>
          <a:p>
            <a:r>
              <a:rPr sz="1400" b="1">
                <a:solidFill>
                  <a:srgbClr val="2563EB"/>
                </a:solidFill>
              </a:rPr>
              <a:t>09  </a:t>
            </a:r>
            <a:r>
              <a:rPr sz="1300" b="1">
                <a:solidFill>
                  <a:srgbClr val="0F172A"/>
                </a:solidFill>
              </a:rPr>
              <a:t>Traffic Simulation &amp; Analytics
</a:t>
            </a:r>
          </a:p>
          <a:p>
            <a:r>
              <a:rPr sz="950">
                <a:solidFill>
                  <a:srgbClr val="64748B"/>
                </a:solidFill>
              </a:rPr>
              <a:t>Model verification, SUMO flow analytics, speed &amp; volume trends</a:t>
            </a:r>
          </a:p>
        </p:txBody>
      </p:sp>
      <p:sp>
        <p:nvSpPr>
          <p:cNvPr id="24" name="Rounded Rectangle 23"/>
          <p:cNvSpPr/>
          <p:nvPr/>
        </p:nvSpPr>
        <p:spPr>
          <a:xfrm>
            <a:off x="6200000" y="5300000"/>
            <a:ext cx="5300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000" y="5420000"/>
            <a:ext cx="5000000" cy="750000"/>
          </a:xfrm>
          <a:prstGeom prst="rect">
            <a:avLst/>
          </a:prstGeom>
          <a:noFill/>
        </p:spPr>
        <p:txBody>
          <a:bodyPr wrap="square" lIns="0" tIns="0">
            <a:spAutoFit/>
          </a:bodyPr>
          <a:lstStyle/>
          <a:p>
            <a:r>
              <a:rPr sz="1400" b="1">
                <a:solidFill>
                  <a:srgbClr val="2563EB"/>
                </a:solidFill>
              </a:rPr>
              <a:t>10  </a:t>
            </a:r>
            <a:r>
              <a:rPr sz="1300" b="1">
                <a:solidFill>
                  <a:srgbClr val="0F172A"/>
                </a:solidFill>
              </a:rPr>
              <a:t>Conclusion &amp; Future Scope
</a:t>
            </a:r>
          </a:p>
          <a:p>
            <a:r>
              <a:rPr sz="950">
                <a:solidFill>
                  <a:srgbClr val="64748B"/>
                </a:solidFill>
              </a:rPr>
              <a:t>Governance, transparency, IoT/GPS roadmap and state-wide scaling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Problem Statement: Challenges in Modern Traffic Management</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2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350000"/>
            <a:ext cx="4900000" cy="400000"/>
          </a:xfrm>
          <a:prstGeom prst="rect">
            <a:avLst/>
          </a:prstGeom>
          <a:noFill/>
        </p:spPr>
        <p:txBody>
          <a:bodyPr wrap="square" lIns="0" tIns="0" rIns="0" bIns="0">
            <a:spAutoFit/>
          </a:bodyPr>
          <a:lstStyle/>
          <a:p>
            <a:r>
              <a:rPr sz="1400" b="1">
                <a:solidFill>
                  <a:srgbClr val="0F172A"/>
                </a:solidFill>
              </a:rPr>
              <a:t>🚦 Dynamic Traffic Uncertainty</a:t>
            </a:r>
          </a:p>
        </p:txBody>
      </p:sp>
      <p:sp>
        <p:nvSpPr>
          <p:cNvPr id="8" name="TextBox 7"/>
          <p:cNvSpPr txBox="1"/>
          <p:nvPr/>
        </p:nvSpPr>
        <p:spPr>
          <a:xfrm>
            <a:off x="850000" y="1800000"/>
            <a:ext cx="4800000" cy="1600000"/>
          </a:xfrm>
          <a:prstGeom prst="rect">
            <a:avLst/>
          </a:prstGeom>
          <a:noFill/>
        </p:spPr>
        <p:txBody>
          <a:bodyPr wrap="square" lIns="0" tIns="0">
            <a:spAutoFit/>
          </a:bodyPr>
          <a:lstStyle/>
          <a:p>
            <a:r>
              <a:rPr sz="1100">
                <a:solidFill>
                  <a:srgbClr val="1E293B"/>
                </a:solidFill>
              </a:rPr>
              <a:t>Traffic congestion varies widely across hours, days, and special events. Manual route selection relies on intuition and often leads drivers directly into gridlock. Small secondary roads and vital village detours are frequently overlooked by generic navigation tools.</a:t>
            </a:r>
          </a:p>
        </p:txBody>
      </p:sp>
      <p:sp>
        <p:nvSpPr>
          <p:cNvPr id="9" name="Rounded Rectangle 8"/>
          <p:cNvSpPr/>
          <p:nvPr/>
        </p:nvSpPr>
        <p:spPr>
          <a:xfrm>
            <a:off x="6200000" y="12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350000"/>
            <a:ext cx="4900000" cy="400000"/>
          </a:xfrm>
          <a:prstGeom prst="rect">
            <a:avLst/>
          </a:prstGeom>
          <a:noFill/>
        </p:spPr>
        <p:txBody>
          <a:bodyPr wrap="square" lIns="0" tIns="0" rIns="0" bIns="0">
            <a:spAutoFit/>
          </a:bodyPr>
          <a:lstStyle/>
          <a:p>
            <a:r>
              <a:rPr sz="1400" b="1">
                <a:solidFill>
                  <a:srgbClr val="0F172A"/>
                </a:solidFill>
              </a:rPr>
              <a:t>📊 Fragmented &amp; Scattered Data</a:t>
            </a:r>
          </a:p>
        </p:txBody>
      </p:sp>
      <p:sp>
        <p:nvSpPr>
          <p:cNvPr id="11" name="TextBox 10"/>
          <p:cNvSpPr txBox="1"/>
          <p:nvPr/>
        </p:nvSpPr>
        <p:spPr>
          <a:xfrm>
            <a:off x="6450000" y="1800000"/>
            <a:ext cx="4800000" cy="1600000"/>
          </a:xfrm>
          <a:prstGeom prst="rect">
            <a:avLst/>
          </a:prstGeom>
          <a:noFill/>
        </p:spPr>
        <p:txBody>
          <a:bodyPr wrap="square" lIns="0" tIns="0">
            <a:spAutoFit/>
          </a:bodyPr>
          <a:lstStyle/>
          <a:p>
            <a:r>
              <a:rPr sz="1100">
                <a:solidFill>
                  <a:srgbClr val="1E293B"/>
                </a:solidFill>
              </a:rPr>
              <a:t>Municipal traffic logs, historical vehicle counts, roadwork notices, and incident reports are isolated in disparate CSV files. Without an automated analytical platform, comparing these records manually to predict congestion bottlenecks is impractical.</a:t>
            </a:r>
          </a:p>
        </p:txBody>
      </p:sp>
      <p:sp>
        <p:nvSpPr>
          <p:cNvPr id="12" name="Rounded Rectangle 11"/>
          <p:cNvSpPr/>
          <p:nvPr/>
        </p:nvSpPr>
        <p:spPr>
          <a:xfrm>
            <a:off x="600000" y="38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000" y="3950000"/>
            <a:ext cx="4900000" cy="400000"/>
          </a:xfrm>
          <a:prstGeom prst="rect">
            <a:avLst/>
          </a:prstGeom>
          <a:noFill/>
        </p:spPr>
        <p:txBody>
          <a:bodyPr wrap="square" lIns="0" tIns="0" rIns="0" bIns="0">
            <a:spAutoFit/>
          </a:bodyPr>
          <a:lstStyle/>
          <a:p>
            <a:r>
              <a:rPr sz="1400" b="1">
                <a:solidFill>
                  <a:srgbClr val="0F172A"/>
                </a:solidFill>
              </a:rPr>
              <a:t>🚛 Vehicle-Specific Road Constraints</a:t>
            </a:r>
          </a:p>
        </p:txBody>
      </p:sp>
      <p:sp>
        <p:nvSpPr>
          <p:cNvPr id="14" name="TextBox 13"/>
          <p:cNvSpPr txBox="1"/>
          <p:nvPr/>
        </p:nvSpPr>
        <p:spPr>
          <a:xfrm>
            <a:off x="850000" y="4400000"/>
            <a:ext cx="4800000" cy="1600000"/>
          </a:xfrm>
          <a:prstGeom prst="rect">
            <a:avLst/>
          </a:prstGeom>
          <a:noFill/>
        </p:spPr>
        <p:txBody>
          <a:bodyPr wrap="square" lIns="0" tIns="0">
            <a:spAutoFit/>
          </a:bodyPr>
          <a:lstStyle/>
          <a:p>
            <a:r>
              <a:rPr sz="1100">
                <a:solidFill>
                  <a:srgbClr val="1E293B"/>
                </a:solidFill>
              </a:rPr>
              <a:t>Commercial heavy vehicles, passenger cars, and motorcycles have vastly different operational constraints. Heavy vehicles face narrow lanes, weight limits, and toll impacts, while two-wheelers prioritize agile, lower-density corridors. One-size-fits-all navigation fails modern fleets.</a:t>
            </a:r>
          </a:p>
        </p:txBody>
      </p:sp>
      <p:sp>
        <p:nvSpPr>
          <p:cNvPr id="15" name="Rounded Rectangle 14"/>
          <p:cNvSpPr/>
          <p:nvPr/>
        </p:nvSpPr>
        <p:spPr>
          <a:xfrm>
            <a:off x="6200000" y="38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000" y="3950000"/>
            <a:ext cx="4900000" cy="400000"/>
          </a:xfrm>
          <a:prstGeom prst="rect">
            <a:avLst/>
          </a:prstGeom>
          <a:noFill/>
        </p:spPr>
        <p:txBody>
          <a:bodyPr wrap="square" lIns="0" tIns="0" rIns="0" bIns="0">
            <a:spAutoFit/>
          </a:bodyPr>
          <a:lstStyle/>
          <a:p>
            <a:r>
              <a:rPr sz="1400" b="1">
                <a:solidFill>
                  <a:srgbClr val="0F172A"/>
                </a:solidFill>
              </a:rPr>
              <a:t>💰 Hidden Economic &amp; Environmental Costs</a:t>
            </a:r>
          </a:p>
        </p:txBody>
      </p:sp>
      <p:sp>
        <p:nvSpPr>
          <p:cNvPr id="17" name="TextBox 16"/>
          <p:cNvSpPr txBox="1"/>
          <p:nvPr/>
        </p:nvSpPr>
        <p:spPr>
          <a:xfrm>
            <a:off x="6450000" y="4400000"/>
            <a:ext cx="4800000" cy="1600000"/>
          </a:xfrm>
          <a:prstGeom prst="rect">
            <a:avLst/>
          </a:prstGeom>
          <a:noFill/>
        </p:spPr>
        <p:txBody>
          <a:bodyPr wrap="square" lIns="0" tIns="0">
            <a:spAutoFit/>
          </a:bodyPr>
          <a:lstStyle/>
          <a:p>
            <a:r>
              <a:rPr sz="1100">
                <a:solidFill>
                  <a:srgbClr val="1E293B"/>
                </a:solidFill>
              </a:rPr>
              <a:t>Unexpected congestion drastically increases fuel burn, vehicle wear-and-tear, and carbon emissions. Uncalculated highway toll costs surprise drivers, while toxic emission corridors negatively affect commuter health without transparent air quality indicators.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Project Overview: Intelligent Traffic Intelligence Platform</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00000"/>
            <a:ext cx="10992000" cy="110000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250000"/>
            <a:ext cx="10500000" cy="800000"/>
          </a:xfrm>
          <a:prstGeom prst="rect">
            <a:avLst/>
          </a:prstGeom>
          <a:noFill/>
        </p:spPr>
        <p:txBody>
          <a:bodyPr wrap="square">
            <a:spAutoFit/>
          </a:bodyPr>
          <a:lstStyle/>
          <a:p>
            <a:r>
              <a:rPr b="1" sz="1300">
                <a:solidFill>
                  <a:srgbClr val="2563EB"/>
                </a:solidFill>
              </a:rPr>
              <a:t>🎯 Core Mission: </a:t>
            </a:r>
            <a:r>
              <a:rPr sz="1200">
                <a:solidFill>
                  <a:srgbClr val="0F172A"/>
                </a:solidFill>
              </a:rPr>
              <a:t>Transform raw municipal CSV traffic records and public road-network data into live predictive intelligence, explainable route optimization, and transparent visual decision dashboards.</a:t>
            </a:r>
          </a:p>
        </p:txBody>
      </p:sp>
      <p:sp>
        <p:nvSpPr>
          <p:cNvPr id="8" name="Rounded Rectangle 7"/>
          <p:cNvSpPr/>
          <p:nvPr/>
        </p:nvSpPr>
        <p:spPr>
          <a:xfrm>
            <a:off x="600000" y="2400000"/>
            <a:ext cx="3500000" cy="40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000" y="2550000"/>
            <a:ext cx="3100000" cy="400000"/>
          </a:xfrm>
          <a:prstGeom prst="rect">
            <a:avLst/>
          </a:prstGeom>
          <a:noFill/>
        </p:spPr>
        <p:txBody>
          <a:bodyPr wrap="square" lIns="0" tIns="0" rIns="0" bIns="0">
            <a:spAutoFit/>
          </a:bodyPr>
          <a:lstStyle/>
          <a:p>
            <a:r>
              <a:rPr sz="1400" b="1">
                <a:solidFill>
                  <a:srgbClr val="0F172A"/>
                </a:solidFill>
              </a:rPr>
              <a:t>📥 1. DATA INGESTION</a:t>
            </a:r>
          </a:p>
        </p:txBody>
      </p:sp>
      <p:sp>
        <p:nvSpPr>
          <p:cNvPr id="10" name="TextBox 9"/>
          <p:cNvSpPr txBox="1"/>
          <p:nvPr/>
        </p:nvSpPr>
        <p:spPr>
          <a:xfrm>
            <a:off x="850000" y="3050000"/>
            <a:ext cx="3000000" cy="3100000"/>
          </a:xfrm>
          <a:prstGeom prst="rect">
            <a:avLst/>
          </a:prstGeom>
          <a:noFill/>
        </p:spPr>
        <p:txBody>
          <a:bodyPr wrap="square" lIns="0" tIns="0">
            <a:spAutoFit/>
          </a:bodyPr>
          <a:lstStyle/>
          <a:p>
            <a:r>
              <a:rPr sz="1100">
                <a:solidFill>
                  <a:srgbClr val="1E293B"/>
                </a:solidFill>
              </a:rPr>
              <a:t>• Historical traffic counts
• Future predictions
• 38 District &amp; Taluk CSVs
• NH Toll Plazas &amp; AQI reference
• Road capacity &amp; incident logs</a:t>
            </a:r>
          </a:p>
        </p:txBody>
      </p:sp>
      <p:sp>
        <p:nvSpPr>
          <p:cNvPr id="11" name="Rounded Rectangle 10"/>
          <p:cNvSpPr/>
          <p:nvPr/>
        </p:nvSpPr>
        <p:spPr>
          <a:xfrm>
            <a:off x="4350000" y="2400000"/>
            <a:ext cx="3500000" cy="40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0000" y="2550000"/>
            <a:ext cx="3100000" cy="400000"/>
          </a:xfrm>
          <a:prstGeom prst="rect">
            <a:avLst/>
          </a:prstGeom>
          <a:noFill/>
        </p:spPr>
        <p:txBody>
          <a:bodyPr wrap="square" lIns="0" tIns="0" rIns="0" bIns="0">
            <a:spAutoFit/>
          </a:bodyPr>
          <a:lstStyle/>
          <a:p>
            <a:r>
              <a:rPr sz="1400" b="1">
                <a:solidFill>
                  <a:srgbClr val="0F172A"/>
                </a:solidFill>
              </a:rPr>
              <a:t>⚙️ 2. AI &amp; OPTIMIZATION</a:t>
            </a:r>
          </a:p>
        </p:txBody>
      </p:sp>
      <p:sp>
        <p:nvSpPr>
          <p:cNvPr id="13" name="TextBox 12"/>
          <p:cNvSpPr txBox="1"/>
          <p:nvPr/>
        </p:nvSpPr>
        <p:spPr>
          <a:xfrm>
            <a:off x="4600000" y="3050000"/>
            <a:ext cx="3000000" cy="3100000"/>
          </a:xfrm>
          <a:prstGeom prst="rect">
            <a:avLst/>
          </a:prstGeom>
          <a:noFill/>
        </p:spPr>
        <p:txBody>
          <a:bodyPr wrap="square" lIns="0" tIns="0">
            <a:spAutoFit/>
          </a:bodyPr>
          <a:lstStyle/>
          <a:p>
            <a:r>
              <a:rPr sz="1100">
                <a:solidFill>
                  <a:srgbClr val="1E293B"/>
                </a:solidFill>
              </a:rPr>
              <a:t>• Real-time OSRM road paths
• Multi-factor traffic scoring
• Vehicle class factor weights
• Explainable AI route reasoning
• Congestion spread forecasting</a:t>
            </a:r>
          </a:p>
        </p:txBody>
      </p:sp>
      <p:sp>
        <p:nvSpPr>
          <p:cNvPr id="14" name="Rounded Rectangle 13"/>
          <p:cNvSpPr/>
          <p:nvPr/>
        </p:nvSpPr>
        <p:spPr>
          <a:xfrm>
            <a:off x="8100000" y="2400000"/>
            <a:ext cx="3500000" cy="40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0000" y="2550000"/>
            <a:ext cx="3100000" cy="400000"/>
          </a:xfrm>
          <a:prstGeom prst="rect">
            <a:avLst/>
          </a:prstGeom>
          <a:noFill/>
        </p:spPr>
        <p:txBody>
          <a:bodyPr wrap="square" lIns="0" tIns="0" rIns="0" bIns="0">
            <a:spAutoFit/>
          </a:bodyPr>
          <a:lstStyle/>
          <a:p>
            <a:r>
              <a:rPr sz="1400" b="1">
                <a:solidFill>
                  <a:srgbClr val="0F172A"/>
                </a:solidFill>
              </a:rPr>
              <a:t>🖥️ 3. INTERACTIVE DASHBOARD</a:t>
            </a:r>
          </a:p>
        </p:txBody>
      </p:sp>
      <p:sp>
        <p:nvSpPr>
          <p:cNvPr id="16" name="TextBox 15"/>
          <p:cNvSpPr txBox="1"/>
          <p:nvPr/>
        </p:nvSpPr>
        <p:spPr>
          <a:xfrm>
            <a:off x="8350000" y="3050000"/>
            <a:ext cx="3000000" cy="3100000"/>
          </a:xfrm>
          <a:prstGeom prst="rect">
            <a:avLst/>
          </a:prstGeom>
          <a:noFill/>
        </p:spPr>
        <p:txBody>
          <a:bodyPr wrap="square" lIns="0" tIns="0">
            <a:spAutoFit/>
          </a:bodyPr>
          <a:lstStyle/>
          <a:p>
            <a:r>
              <a:rPr sz="1100">
                <a:solidFill>
                  <a:srgbClr val="1E293B"/>
                </a:solidFill>
              </a:rPr>
              <a:t>• High-contrast Leaflet map
• Turn-by-turn route lines
• Automated vehicle animation
• Real-time incident alert badges
• Zero-server client resilience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Target End Users: Value Proposition Across Commuter Segments</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2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350000"/>
            <a:ext cx="4900000" cy="400000"/>
          </a:xfrm>
          <a:prstGeom prst="rect">
            <a:avLst/>
          </a:prstGeom>
          <a:noFill/>
        </p:spPr>
        <p:txBody>
          <a:bodyPr wrap="square" lIns="0" tIns="0" rIns="0" bIns="0">
            <a:spAutoFit/>
          </a:bodyPr>
          <a:lstStyle/>
          <a:p>
            <a:r>
              <a:rPr sz="1400" b="1">
                <a:solidFill>
                  <a:srgbClr val="0F172A"/>
                </a:solidFill>
              </a:rPr>
              <a:t>🏍️ Two-Wheeler / Bike Riders</a:t>
            </a:r>
          </a:p>
        </p:txBody>
      </p:sp>
      <p:sp>
        <p:nvSpPr>
          <p:cNvPr id="8" name="TextBox 7"/>
          <p:cNvSpPr txBox="1"/>
          <p:nvPr/>
        </p:nvSpPr>
        <p:spPr>
          <a:xfrm>
            <a:off x="850000" y="1750000"/>
            <a:ext cx="4800000" cy="1700000"/>
          </a:xfrm>
          <a:prstGeom prst="rect">
            <a:avLst/>
          </a:prstGeom>
          <a:noFill/>
        </p:spPr>
        <p:txBody>
          <a:bodyPr wrap="square" lIns="0" tIns="0">
            <a:spAutoFit/>
          </a:bodyPr>
          <a:lstStyle/>
          <a:p>
            <a:r>
              <a:rPr sz="1100" b="1">
                <a:solidFill>
                  <a:srgbClr val="2563EB"/>
                </a:solidFill>
              </a:rPr>
              <a:t>Rapid Transit &amp; Detour Efficiency
</a:t>
            </a:r>
          </a:p>
          <a:p>
            <a:r>
              <a:rPr sz="1000">
                <a:solidFill>
                  <a:srgbClr val="1E293B"/>
                </a:solidFill>
              </a:rPr>
              <a:t>• Identify agile corridor routes with high average speeds.
• Avoid heavy congestion choke-points on arterial highways.
• Gain visibility into local taluk and village-level cut-through roads.
• Zero toll expenditure route prioritization.</a:t>
            </a:r>
          </a:p>
        </p:txBody>
      </p:sp>
      <p:sp>
        <p:nvSpPr>
          <p:cNvPr id="9" name="Rounded Rectangle 8"/>
          <p:cNvSpPr/>
          <p:nvPr/>
        </p:nvSpPr>
        <p:spPr>
          <a:xfrm>
            <a:off x="6200000" y="12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350000"/>
            <a:ext cx="4900000" cy="400000"/>
          </a:xfrm>
          <a:prstGeom prst="rect">
            <a:avLst/>
          </a:prstGeom>
          <a:noFill/>
        </p:spPr>
        <p:txBody>
          <a:bodyPr wrap="square" lIns="0" tIns="0" rIns="0" bIns="0">
            <a:spAutoFit/>
          </a:bodyPr>
          <a:lstStyle/>
          <a:p>
            <a:r>
              <a:rPr sz="1400" b="1">
                <a:solidFill>
                  <a:srgbClr val="0F172A"/>
                </a:solidFill>
              </a:rPr>
              <a:t>🚗 Private Passenger Cars</a:t>
            </a:r>
          </a:p>
        </p:txBody>
      </p:sp>
      <p:sp>
        <p:nvSpPr>
          <p:cNvPr id="11" name="TextBox 10"/>
          <p:cNvSpPr txBox="1"/>
          <p:nvPr/>
        </p:nvSpPr>
        <p:spPr>
          <a:xfrm>
            <a:off x="6450000" y="1750000"/>
            <a:ext cx="4800000" cy="1700000"/>
          </a:xfrm>
          <a:prstGeom prst="rect">
            <a:avLst/>
          </a:prstGeom>
          <a:noFill/>
        </p:spPr>
        <p:txBody>
          <a:bodyPr wrap="square" lIns="0" tIns="0">
            <a:spAutoFit/>
          </a:bodyPr>
          <a:lstStyle/>
          <a:p>
            <a:r>
              <a:rPr sz="1100" b="1">
                <a:solidFill>
                  <a:srgbClr val="2563EB"/>
                </a:solidFill>
              </a:rPr>
              <a:t>Balanced Comfort &amp; Cost Economy
</a:t>
            </a:r>
          </a:p>
          <a:p>
            <a:r>
              <a:rPr sz="1000">
                <a:solidFill>
                  <a:srgbClr val="1E293B"/>
                </a:solidFill>
              </a:rPr>
              <a:t>• Multi-criteria optimization balancing travel time, distance &amp; toll.
• Upfront highway toll plaza calculation along NH-45/GST road.
• Real-time incident avoidance (accidents, construction diversions).
• Air Quality (AQI) indicators along candidate routes.</a:t>
            </a:r>
          </a:p>
        </p:txBody>
      </p:sp>
      <p:sp>
        <p:nvSpPr>
          <p:cNvPr id="12" name="Rounded Rectangle 11"/>
          <p:cNvSpPr/>
          <p:nvPr/>
        </p:nvSpPr>
        <p:spPr>
          <a:xfrm>
            <a:off x="600000" y="38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000" y="3950000"/>
            <a:ext cx="4900000" cy="400000"/>
          </a:xfrm>
          <a:prstGeom prst="rect">
            <a:avLst/>
          </a:prstGeom>
          <a:noFill/>
        </p:spPr>
        <p:txBody>
          <a:bodyPr wrap="square" lIns="0" tIns="0" rIns="0" bIns="0">
            <a:spAutoFit/>
          </a:bodyPr>
          <a:lstStyle/>
          <a:p>
            <a:r>
              <a:rPr sz="1400" b="1">
                <a:solidFill>
                  <a:srgbClr val="0F172A"/>
                </a:solidFill>
              </a:rPr>
              <a:t>🚛 Heavy Commercial Vehicles</a:t>
            </a:r>
          </a:p>
        </p:txBody>
      </p:sp>
      <p:sp>
        <p:nvSpPr>
          <p:cNvPr id="14" name="TextBox 13"/>
          <p:cNvSpPr txBox="1"/>
          <p:nvPr/>
        </p:nvSpPr>
        <p:spPr>
          <a:xfrm>
            <a:off x="850000" y="4350000"/>
            <a:ext cx="4800000" cy="1700000"/>
          </a:xfrm>
          <a:prstGeom prst="rect">
            <a:avLst/>
          </a:prstGeom>
          <a:noFill/>
        </p:spPr>
        <p:txBody>
          <a:bodyPr wrap="square" lIns="0" tIns="0">
            <a:spAutoFit/>
          </a:bodyPr>
          <a:lstStyle/>
          <a:p>
            <a:r>
              <a:rPr sz="1100" b="1">
                <a:solidFill>
                  <a:srgbClr val="2563EB"/>
                </a:solidFill>
              </a:rPr>
              <a:t>Compliance &amp; Restriction Awareness
</a:t>
            </a:r>
          </a:p>
          <a:p>
            <a:r>
              <a:rPr sz="1000">
                <a:solidFill>
                  <a:srgbClr val="1E293B"/>
                </a:solidFill>
              </a:rPr>
              <a:t>• Enforce heavy-vehicle road suitability rules.
• Filter out narrow village tracks and non-commercial overpasses.
• Calculate class-specific FASTag toll budgets in advance.
• Reduce fuel waste caused by stop-and-go highway jams.</a:t>
            </a:r>
          </a:p>
        </p:txBody>
      </p:sp>
      <p:sp>
        <p:nvSpPr>
          <p:cNvPr id="15" name="Rounded Rectangle 14"/>
          <p:cNvSpPr/>
          <p:nvPr/>
        </p:nvSpPr>
        <p:spPr>
          <a:xfrm>
            <a:off x="6200000" y="38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000" y="3950000"/>
            <a:ext cx="4900000" cy="400000"/>
          </a:xfrm>
          <a:prstGeom prst="rect">
            <a:avLst/>
          </a:prstGeom>
          <a:noFill/>
        </p:spPr>
        <p:txBody>
          <a:bodyPr wrap="square" lIns="0" tIns="0" rIns="0" bIns="0">
            <a:spAutoFit/>
          </a:bodyPr>
          <a:lstStyle/>
          <a:p>
            <a:r>
              <a:rPr sz="1400" b="1">
                <a:solidFill>
                  <a:srgbClr val="0F172A"/>
                </a:solidFill>
              </a:rPr>
              <a:t>🏛️ Traffic Authorities &amp; Planners</a:t>
            </a:r>
          </a:p>
        </p:txBody>
      </p:sp>
      <p:sp>
        <p:nvSpPr>
          <p:cNvPr id="17" name="TextBox 16"/>
          <p:cNvSpPr txBox="1"/>
          <p:nvPr/>
        </p:nvSpPr>
        <p:spPr>
          <a:xfrm>
            <a:off x="6450000" y="4350000"/>
            <a:ext cx="4800000" cy="1700000"/>
          </a:xfrm>
          <a:prstGeom prst="rect">
            <a:avLst/>
          </a:prstGeom>
          <a:noFill/>
        </p:spPr>
        <p:txBody>
          <a:bodyPr wrap="square" lIns="0" tIns="0">
            <a:spAutoFit/>
          </a:bodyPr>
          <a:lstStyle/>
          <a:p>
            <a:r>
              <a:rPr sz="1100" b="1">
                <a:solidFill>
                  <a:srgbClr val="2563EB"/>
                </a:solidFill>
              </a:rPr>
              <a:t>Predictive Congestion Governance
</a:t>
            </a:r>
          </a:p>
          <a:p>
            <a:r>
              <a:rPr sz="1000">
                <a:solidFill>
                  <a:srgbClr val="1E293B"/>
                </a:solidFill>
              </a:rPr>
              <a:t>• Run 'What-If' simulation scenarios on road closures.
• Forecast 30-minute downstream congestion spread.
• Monitor traffic volume vs nominal road capacities.
• Transparent telemetry tagging: LIVE, CSV, or SIMULATED.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Core Innovations &amp; 'Wow Factors'</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50000"/>
            <a:ext cx="5300000" cy="16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300000"/>
            <a:ext cx="4900000" cy="400000"/>
          </a:xfrm>
          <a:prstGeom prst="rect">
            <a:avLst/>
          </a:prstGeom>
          <a:noFill/>
        </p:spPr>
        <p:txBody>
          <a:bodyPr wrap="square" lIns="0" tIns="0" rIns="0" bIns="0">
            <a:spAutoFit/>
          </a:bodyPr>
          <a:lstStyle/>
          <a:p>
            <a:r>
              <a:rPr sz="1400" b="1">
                <a:solidFill>
                  <a:srgbClr val="0F172A"/>
                </a:solidFill>
              </a:rPr>
              <a:t>🧠 Explainable AI (XAI) Scoring</a:t>
            </a:r>
          </a:p>
        </p:txBody>
      </p:sp>
      <p:sp>
        <p:nvSpPr>
          <p:cNvPr id="8" name="TextBox 7"/>
          <p:cNvSpPr txBox="1"/>
          <p:nvPr/>
        </p:nvSpPr>
        <p:spPr>
          <a:xfrm>
            <a:off x="850000" y="1700000"/>
            <a:ext cx="4800000" cy="950000"/>
          </a:xfrm>
          <a:prstGeom prst="rect">
            <a:avLst/>
          </a:prstGeom>
          <a:noFill/>
        </p:spPr>
        <p:txBody>
          <a:bodyPr wrap="square" lIns="0" tIns="0">
            <a:spAutoFit/>
          </a:bodyPr>
          <a:lstStyle/>
          <a:p>
            <a:r>
              <a:rPr sz="1050">
                <a:solidFill>
                  <a:srgbClr val="1E293B"/>
                </a:solidFill>
              </a:rPr>
              <a:t>Does not just give a route number; gives human-readable reasons (e.g. 'Shortest transit time via NH-45, minimal signal delays, road capacity within 45% threshold').</a:t>
            </a:r>
          </a:p>
        </p:txBody>
      </p:sp>
      <p:sp>
        <p:nvSpPr>
          <p:cNvPr id="9" name="Rounded Rectangle 8"/>
          <p:cNvSpPr/>
          <p:nvPr/>
        </p:nvSpPr>
        <p:spPr>
          <a:xfrm>
            <a:off x="6200000" y="1150000"/>
            <a:ext cx="5300000" cy="16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300000"/>
            <a:ext cx="4900000" cy="400000"/>
          </a:xfrm>
          <a:prstGeom prst="rect">
            <a:avLst/>
          </a:prstGeom>
          <a:noFill/>
        </p:spPr>
        <p:txBody>
          <a:bodyPr wrap="square" lIns="0" tIns="0" rIns="0" bIns="0">
            <a:spAutoFit/>
          </a:bodyPr>
          <a:lstStyle/>
          <a:p>
            <a:r>
              <a:rPr sz="1400" b="1">
                <a:solidFill>
                  <a:srgbClr val="0F172A"/>
                </a:solidFill>
              </a:rPr>
              <a:t>🛣️ Authentic Road Geometries (OSRM)</a:t>
            </a:r>
          </a:p>
        </p:txBody>
      </p:sp>
      <p:sp>
        <p:nvSpPr>
          <p:cNvPr id="11" name="TextBox 10"/>
          <p:cNvSpPr txBox="1"/>
          <p:nvPr/>
        </p:nvSpPr>
        <p:spPr>
          <a:xfrm>
            <a:off x="6450000" y="1700000"/>
            <a:ext cx="4800000" cy="950000"/>
          </a:xfrm>
          <a:prstGeom prst="rect">
            <a:avLst/>
          </a:prstGeom>
          <a:noFill/>
        </p:spPr>
        <p:txBody>
          <a:bodyPr wrap="square" lIns="0" tIns="0">
            <a:spAutoFit/>
          </a:bodyPr>
          <a:lstStyle/>
          <a:p>
            <a:r>
              <a:rPr sz="1050">
                <a:solidFill>
                  <a:srgbClr val="1E293B"/>
                </a:solidFill>
              </a:rPr>
              <a:t>Unlike standard academic projects that draw unrealistic straight lines, all routes are queried from real open-street highway road networks with actual turn vectors.</a:t>
            </a:r>
          </a:p>
        </p:txBody>
      </p:sp>
      <p:sp>
        <p:nvSpPr>
          <p:cNvPr id="12" name="Rounded Rectangle 11"/>
          <p:cNvSpPr/>
          <p:nvPr/>
        </p:nvSpPr>
        <p:spPr>
          <a:xfrm>
            <a:off x="600000" y="2900000"/>
            <a:ext cx="5300000" cy="16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000" y="3050000"/>
            <a:ext cx="4900000" cy="400000"/>
          </a:xfrm>
          <a:prstGeom prst="rect">
            <a:avLst/>
          </a:prstGeom>
          <a:noFill/>
        </p:spPr>
        <p:txBody>
          <a:bodyPr wrap="square" lIns="0" tIns="0" rIns="0" bIns="0">
            <a:spAutoFit/>
          </a:bodyPr>
          <a:lstStyle/>
          <a:p>
            <a:r>
              <a:rPr sz="1400" b="1">
                <a:solidFill>
                  <a:srgbClr val="0F172A"/>
                </a:solidFill>
              </a:rPr>
              <a:t>📍 Village &amp; Taluk Search Autocomplete</a:t>
            </a:r>
          </a:p>
        </p:txBody>
      </p:sp>
      <p:sp>
        <p:nvSpPr>
          <p:cNvPr id="14" name="TextBox 13"/>
          <p:cNvSpPr txBox="1"/>
          <p:nvPr/>
        </p:nvSpPr>
        <p:spPr>
          <a:xfrm>
            <a:off x="850000" y="3450000"/>
            <a:ext cx="4800000" cy="950000"/>
          </a:xfrm>
          <a:prstGeom prst="rect">
            <a:avLst/>
          </a:prstGeom>
          <a:noFill/>
        </p:spPr>
        <p:txBody>
          <a:bodyPr wrap="square" lIns="0" tIns="0">
            <a:spAutoFit/>
          </a:bodyPr>
          <a:lstStyle/>
          <a:p>
            <a:r>
              <a:rPr sz="1050">
                <a:solidFill>
                  <a:srgbClr val="1E293B"/>
                </a:solidFill>
              </a:rPr>
              <a:t>Integrates district, taluk, and village level databases covering all 38 districts of Tamil Nadu, providing instant smart autocomplete suggestions.</a:t>
            </a:r>
          </a:p>
        </p:txBody>
      </p:sp>
      <p:sp>
        <p:nvSpPr>
          <p:cNvPr id="15" name="Rounded Rectangle 14"/>
          <p:cNvSpPr/>
          <p:nvPr/>
        </p:nvSpPr>
        <p:spPr>
          <a:xfrm>
            <a:off x="6200000" y="2900000"/>
            <a:ext cx="5300000" cy="16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000" y="3050000"/>
            <a:ext cx="4900000" cy="400000"/>
          </a:xfrm>
          <a:prstGeom prst="rect">
            <a:avLst/>
          </a:prstGeom>
          <a:noFill/>
        </p:spPr>
        <p:txBody>
          <a:bodyPr wrap="square" lIns="0" tIns="0" rIns="0" bIns="0">
            <a:spAutoFit/>
          </a:bodyPr>
          <a:lstStyle/>
          <a:p>
            <a:r>
              <a:rPr sz="1400" b="1">
                <a:solidFill>
                  <a:srgbClr val="0F172A"/>
                </a:solidFill>
              </a:rPr>
              <a:t>🔮 Future Traffic Prediction &amp; Spread</a:t>
            </a:r>
          </a:p>
        </p:txBody>
      </p:sp>
      <p:sp>
        <p:nvSpPr>
          <p:cNvPr id="17" name="TextBox 16"/>
          <p:cNvSpPr txBox="1"/>
          <p:nvPr/>
        </p:nvSpPr>
        <p:spPr>
          <a:xfrm>
            <a:off x="6450000" y="3450000"/>
            <a:ext cx="4800000" cy="950000"/>
          </a:xfrm>
          <a:prstGeom prst="rect">
            <a:avLst/>
          </a:prstGeom>
          <a:noFill/>
        </p:spPr>
        <p:txBody>
          <a:bodyPr wrap="square" lIns="0" tIns="0">
            <a:spAutoFit/>
          </a:bodyPr>
          <a:lstStyle/>
          <a:p>
            <a:r>
              <a:rPr sz="1050">
                <a:solidFill>
                  <a:srgbClr val="1E293B"/>
                </a:solidFill>
              </a:rPr>
              <a:t>Analyzes downstream probability of congestion spreading from source arteries (GST Road) to adjoining corridors (Mount Road, Velachery).</a:t>
            </a:r>
          </a:p>
        </p:txBody>
      </p:sp>
      <p:sp>
        <p:nvSpPr>
          <p:cNvPr id="18" name="Rounded Rectangle 17"/>
          <p:cNvSpPr/>
          <p:nvPr/>
        </p:nvSpPr>
        <p:spPr>
          <a:xfrm>
            <a:off x="600000" y="4650000"/>
            <a:ext cx="5300000" cy="16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000" y="4800000"/>
            <a:ext cx="4900000" cy="400000"/>
          </a:xfrm>
          <a:prstGeom prst="rect">
            <a:avLst/>
          </a:prstGeom>
          <a:noFill/>
        </p:spPr>
        <p:txBody>
          <a:bodyPr wrap="square" lIns="0" tIns="0" rIns="0" bIns="0">
            <a:spAutoFit/>
          </a:bodyPr>
          <a:lstStyle/>
          <a:p>
            <a:r>
              <a:rPr sz="1400" b="1">
                <a:solidFill>
                  <a:srgbClr val="0F172A"/>
                </a:solidFill>
              </a:rPr>
              <a:t>🛡️ Transparent Telemetry Labels</a:t>
            </a:r>
          </a:p>
        </p:txBody>
      </p:sp>
      <p:sp>
        <p:nvSpPr>
          <p:cNvPr id="20" name="TextBox 19"/>
          <p:cNvSpPr txBox="1"/>
          <p:nvPr/>
        </p:nvSpPr>
        <p:spPr>
          <a:xfrm>
            <a:off x="850000" y="5200000"/>
            <a:ext cx="4800000" cy="950000"/>
          </a:xfrm>
          <a:prstGeom prst="rect">
            <a:avLst/>
          </a:prstGeom>
          <a:noFill/>
        </p:spPr>
        <p:txBody>
          <a:bodyPr wrap="square" lIns="0" tIns="0">
            <a:spAutoFit/>
          </a:bodyPr>
          <a:lstStyle/>
          <a:p>
            <a:r>
              <a:rPr sz="1050">
                <a:solidFill>
                  <a:srgbClr val="1E293B"/>
                </a:solidFill>
              </a:rPr>
              <a:t>Every metric explicitly states whether it originates from LIVE OpenStreetMap feeds, CSV records, verified estimates, or mathematical simulations.</a:t>
            </a:r>
          </a:p>
        </p:txBody>
      </p:sp>
      <p:sp>
        <p:nvSpPr>
          <p:cNvPr id="21" name="Rounded Rectangle 20"/>
          <p:cNvSpPr/>
          <p:nvPr/>
        </p:nvSpPr>
        <p:spPr>
          <a:xfrm>
            <a:off x="6200000" y="4650000"/>
            <a:ext cx="5300000" cy="16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000" y="4800000"/>
            <a:ext cx="4900000" cy="400000"/>
          </a:xfrm>
          <a:prstGeom prst="rect">
            <a:avLst/>
          </a:prstGeom>
          <a:noFill/>
        </p:spPr>
        <p:txBody>
          <a:bodyPr wrap="square" lIns="0" tIns="0" rIns="0" bIns="0">
            <a:spAutoFit/>
          </a:bodyPr>
          <a:lstStyle/>
          <a:p>
            <a:r>
              <a:rPr sz="1400" b="1">
                <a:solidFill>
                  <a:srgbClr val="0F172A"/>
                </a:solidFill>
              </a:rPr>
              <a:t>⚡ Zero-Server High Availability</a:t>
            </a:r>
          </a:p>
        </p:txBody>
      </p:sp>
      <p:sp>
        <p:nvSpPr>
          <p:cNvPr id="23" name="TextBox 22"/>
          <p:cNvSpPr txBox="1"/>
          <p:nvPr/>
        </p:nvSpPr>
        <p:spPr>
          <a:xfrm>
            <a:off x="6450000" y="5200000"/>
            <a:ext cx="4800000" cy="950000"/>
          </a:xfrm>
          <a:prstGeom prst="rect">
            <a:avLst/>
          </a:prstGeom>
          <a:noFill/>
        </p:spPr>
        <p:txBody>
          <a:bodyPr wrap="square" lIns="0" tIns="0">
            <a:spAutoFit/>
          </a:bodyPr>
          <a:lstStyle/>
          <a:p>
            <a:r>
              <a:rPr sz="1050">
                <a:solidFill>
                  <a:srgbClr val="1E293B"/>
                </a:solidFill>
              </a:rPr>
              <a:t>Engineered with client-side failover: works 100% smoothly on static GitHub Pages via direct browser APIs without requiring server infrastructure.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Vehicle-Aware Optimization &amp; Scoring Logic</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50000"/>
            <a:ext cx="5300000" cy="5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300000"/>
            <a:ext cx="4900000" cy="400000"/>
          </a:xfrm>
          <a:prstGeom prst="rect">
            <a:avLst/>
          </a:prstGeom>
          <a:noFill/>
        </p:spPr>
        <p:txBody>
          <a:bodyPr wrap="square" lIns="0" tIns="0" rIns="0" bIns="0">
            <a:spAutoFit/>
          </a:bodyPr>
          <a:lstStyle/>
          <a:p>
            <a:r>
              <a:rPr sz="1400" b="1">
                <a:solidFill>
                  <a:srgbClr val="0F172A"/>
                </a:solidFill>
              </a:rPr>
              <a:t>📐 AI Scoring Formulation</a:t>
            </a:r>
          </a:p>
        </p:txBody>
      </p:sp>
      <p:sp>
        <p:nvSpPr>
          <p:cNvPr id="8" name="TextBox 7"/>
          <p:cNvSpPr txBox="1"/>
          <p:nvPr/>
        </p:nvSpPr>
        <p:spPr>
          <a:xfrm>
            <a:off x="850000" y="1750000"/>
            <a:ext cx="4800000" cy="4400000"/>
          </a:xfrm>
          <a:prstGeom prst="rect">
            <a:avLst/>
          </a:prstGeom>
          <a:noFill/>
        </p:spPr>
        <p:txBody>
          <a:bodyPr wrap="square" lIns="0" tIns="0">
            <a:spAutoFit/>
          </a:bodyPr>
          <a:lstStyle/>
          <a:p>
            <a:r>
              <a:rPr b="1" sz="1300">
                <a:solidFill>
                  <a:srgbClr val="2563EB"/>
                </a:solidFill>
              </a:rPr>
              <a:t>Multi-Factor Route Penalty Score (S):
</a:t>
            </a:r>
          </a:p>
          <a:p>
            <a:r>
              <a:rPr b="1" sz="1100">
                <a:solidFill>
                  <a:srgbClr val="0F172A"/>
                </a:solidFill>
              </a:rPr>
              <a:t>S = (Duration × W_t) + (Density × W_d) + (Incident × W_i) + Class_Penalty
</a:t>
            </a:r>
          </a:p>
          <a:p>
            <a:r>
              <a:rPr sz="1000">
                <a:solidFill>
                  <a:srgbClr val="1E293B"/>
                </a:solidFill>
              </a:rPr>
              <a:t>• Duration Factor: Normalized travel time in minutes returned by OSRM engine.
• Density Ratio: (Vehicle Count / Road Capacity) × 100.
• Incident Weights: Penalty added for active roadwork (+15), accidents (+30), and public events (+10).
• Ranking: Routes sorted ascending by S (Lowest Score = Best Recommended Route).
Status Thresholds:
🟢 Score &lt; 35: LOW CONGESTION (Green)
🟡 Score 35 - 60: MODERATE CONGESTION (Yellow)
🔴 Score &gt; 60: HIGH CONGESTION (Red)</a:t>
            </a:r>
          </a:p>
        </p:txBody>
      </p:sp>
      <p:sp>
        <p:nvSpPr>
          <p:cNvPr id="9" name="Rounded Rectangle 8"/>
          <p:cNvSpPr/>
          <p:nvPr/>
        </p:nvSpPr>
        <p:spPr>
          <a:xfrm>
            <a:off x="6200000" y="1150000"/>
            <a:ext cx="5300000" cy="5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300000"/>
            <a:ext cx="4900000" cy="400000"/>
          </a:xfrm>
          <a:prstGeom prst="rect">
            <a:avLst/>
          </a:prstGeom>
          <a:noFill/>
        </p:spPr>
        <p:txBody>
          <a:bodyPr wrap="square" lIns="0" tIns="0" rIns="0" bIns="0">
            <a:spAutoFit/>
          </a:bodyPr>
          <a:lstStyle/>
          <a:p>
            <a:r>
              <a:rPr sz="1400" b="1">
                <a:solidFill>
                  <a:srgbClr val="0F172A"/>
                </a:solidFill>
              </a:rPr>
              <a:t>🚗 Vehicle Class Specific Logic</a:t>
            </a:r>
          </a:p>
        </p:txBody>
      </p:sp>
      <p:sp>
        <p:nvSpPr>
          <p:cNvPr id="11" name="TextBox 10"/>
          <p:cNvSpPr txBox="1"/>
          <p:nvPr/>
        </p:nvSpPr>
        <p:spPr>
          <a:xfrm>
            <a:off x="6450000" y="1750000"/>
            <a:ext cx="4800000" cy="4400000"/>
          </a:xfrm>
          <a:prstGeom prst="rect">
            <a:avLst/>
          </a:prstGeom>
          <a:noFill/>
        </p:spPr>
        <p:txBody>
          <a:bodyPr wrap="square" lIns="0" tIns="0">
            <a:spAutoFit/>
          </a:bodyPr>
          <a:lstStyle/>
          <a:p>
            <a:r>
              <a:rPr sz="1050">
                <a:solidFill>
                  <a:srgbClr val="1E293B"/>
                </a:solidFill>
              </a:rPr>
              <a:t>🏍️ Two-Wheelers (Bikes):
• High tolerance for secondary corridors; penalty factor discount (-5 pts).
• Priority placed on minimizing stop-and-go delays.
• Toll charges omitted as two-wheelers are exempt from NH toll.
🚗 Passenger Cars:
• Balanced route ranking (Default mode).
• Evaluates total travel time, road surface quality, and toll fee.
• Integrates Air Quality (AQI) score along candidate corridors.
🚛 Heavy Vehicles (Trucks &amp; Buses):
• Stringent road restriction penalty added (+12 pts on dense passes).
• Prohibits narrow village bypasses with low overhead clearance.
• Multi-axle toll tariffs calculated across active toll plazas.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Toll Estimation &amp; Air Quality (AQI) Indicators</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50000"/>
            <a:ext cx="5300000" cy="5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300000"/>
            <a:ext cx="4900000" cy="400000"/>
          </a:xfrm>
          <a:prstGeom prst="rect">
            <a:avLst/>
          </a:prstGeom>
          <a:noFill/>
        </p:spPr>
        <p:txBody>
          <a:bodyPr wrap="square" lIns="0" tIns="0" rIns="0" bIns="0">
            <a:spAutoFit/>
          </a:bodyPr>
          <a:lstStyle/>
          <a:p>
            <a:r>
              <a:rPr sz="1400" b="1">
                <a:solidFill>
                  <a:srgbClr val="0F172A"/>
                </a:solidFill>
              </a:rPr>
              <a:t>💳 NHAI Toll Plaza Computation</a:t>
            </a:r>
          </a:p>
        </p:txBody>
      </p:sp>
      <p:sp>
        <p:nvSpPr>
          <p:cNvPr id="8" name="TextBox 7"/>
          <p:cNvSpPr txBox="1"/>
          <p:nvPr/>
        </p:nvSpPr>
        <p:spPr>
          <a:xfrm>
            <a:off x="850000" y="1750000"/>
            <a:ext cx="4800000" cy="4400000"/>
          </a:xfrm>
          <a:prstGeom prst="rect">
            <a:avLst/>
          </a:prstGeom>
          <a:noFill/>
        </p:spPr>
        <p:txBody>
          <a:bodyPr wrap="square" lIns="0" tIns="0">
            <a:spAutoFit/>
          </a:bodyPr>
          <a:lstStyle/>
          <a:p>
            <a:r>
              <a:rPr sz="1050">
                <a:solidFill>
                  <a:srgbClr val="1E293B"/>
                </a:solidFill>
              </a:rPr>
              <a:t>GST Road (NH-45) Corridor Case Study:
1. Vikravandi Toll Plaza:
   • Car Rate: ₹75  • Heavy Vehicle: ₹245
   • Status: NHAI Class-wise Reference
2. Paranur Toll Plaza (Chengalpattu):
   • Car Rate: ₹65  • Heavy Vehicle: ₹210
   • Status: Documented Concessionaire Rate
3. Vanagaram Toll Plaza (Chennai Bypass):
   • Car Rate: ₹55  • Heavy Vehicle: ₹180
   • Status: Active FASTag Fee
Total Trip Toll (Villupuram -&gt; Chennai): ₹195 for Car
Integrated directly into Journey Summary to prevent unexpected highway expenditure.</a:t>
            </a:r>
          </a:p>
        </p:txBody>
      </p:sp>
      <p:sp>
        <p:nvSpPr>
          <p:cNvPr id="9" name="Rounded Rectangle 8"/>
          <p:cNvSpPr/>
          <p:nvPr/>
        </p:nvSpPr>
        <p:spPr>
          <a:xfrm>
            <a:off x="6200000" y="1150000"/>
            <a:ext cx="5300000" cy="5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300000"/>
            <a:ext cx="4900000" cy="400000"/>
          </a:xfrm>
          <a:prstGeom prst="rect">
            <a:avLst/>
          </a:prstGeom>
          <a:noFill/>
        </p:spPr>
        <p:txBody>
          <a:bodyPr wrap="square" lIns="0" tIns="0" rIns="0" bIns="0">
            <a:spAutoFit/>
          </a:bodyPr>
          <a:lstStyle/>
          <a:p>
            <a:r>
              <a:rPr sz="1400" b="1">
                <a:solidFill>
                  <a:srgbClr val="0F172A"/>
                </a:solidFill>
              </a:rPr>
              <a:t>🍃 Environmental Pollution (AQI)</a:t>
            </a:r>
          </a:p>
        </p:txBody>
      </p:sp>
      <p:sp>
        <p:nvSpPr>
          <p:cNvPr id="11" name="TextBox 10"/>
          <p:cNvSpPr txBox="1"/>
          <p:nvPr/>
        </p:nvSpPr>
        <p:spPr>
          <a:xfrm>
            <a:off x="6450000" y="1750000"/>
            <a:ext cx="4800000" cy="4400000"/>
          </a:xfrm>
          <a:prstGeom prst="rect">
            <a:avLst/>
          </a:prstGeom>
          <a:noFill/>
        </p:spPr>
        <p:txBody>
          <a:bodyPr wrap="square" lIns="0" tIns="0">
            <a:spAutoFit/>
          </a:bodyPr>
          <a:lstStyle/>
          <a:p>
            <a:r>
              <a:rPr sz="1050">
                <a:solidFill>
                  <a:srgbClr val="1E293B"/>
                </a:solidFill>
              </a:rPr>
              <a:t>Commuter Health &amp; Environmental Awareness:
• Multi-Point Spatial Sampling:
  Samples air quality coordinates along candidate road paths.
• AQI Index Representation:
  🟢 AQI 0 - 50: Good (Ideal for open two-wheeler transit)
  🟡 AQI 51 - 100: Satisfactory (Minor respiratory risk)
  🟠 AQI 101 - 200: Moderate / Unhealthy for Sensitive Groups
  🔴 AQI &gt; 200: Severe (Heavy particulate congestion zone)
• Correlated Route Ranking:
  High AQI levels indicate intense exhaust emission choke-points; the AI ranking weights cleaner alternatives when travel times are comparable.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System Architecture &amp; End-to-End Execution Flow</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5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 y="1300000"/>
            <a:ext cx="10500000" cy="700000"/>
          </a:xfrm>
          <a:prstGeom prst="rect">
            <a:avLst/>
          </a:prstGeom>
          <a:noFill/>
        </p:spPr>
        <p:txBody>
          <a:bodyPr wrap="square" lIns="0" tIns="0">
            <a:spAutoFit/>
          </a:bodyPr>
          <a:lstStyle/>
          <a:p>
            <a:r>
              <a:rPr b="1" sz="1200">
                <a:solidFill>
                  <a:srgbClr val="2563EB"/>
                </a:solidFill>
              </a:rPr>
              <a:t>Step 1: User Request: </a:t>
            </a:r>
            <a:r>
              <a:rPr sz="1100">
                <a:solidFill>
                  <a:srgbClr val="1E293B"/>
                </a:solidFill>
              </a:rPr>
              <a:t>User inputs origin, destination &amp; selects vehicle category (Bike, Car, Truck) on Web UI.</a:t>
            </a:r>
          </a:p>
        </p:txBody>
      </p:sp>
      <p:sp>
        <p:nvSpPr>
          <p:cNvPr id="8" name="Rounded Rectangle 7"/>
          <p:cNvSpPr/>
          <p:nvPr/>
        </p:nvSpPr>
        <p:spPr>
          <a:xfrm>
            <a:off x="600000" y="220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000" y="2350000"/>
            <a:ext cx="10500000" cy="700000"/>
          </a:xfrm>
          <a:prstGeom prst="rect">
            <a:avLst/>
          </a:prstGeom>
          <a:noFill/>
        </p:spPr>
        <p:txBody>
          <a:bodyPr wrap="square" lIns="0" tIns="0">
            <a:spAutoFit/>
          </a:bodyPr>
          <a:lstStyle/>
          <a:p>
            <a:r>
              <a:rPr b="1" sz="1200">
                <a:solidFill>
                  <a:srgbClr val="2563EB"/>
                </a:solidFill>
              </a:rPr>
              <a:t>Step 2: Geocoding: </a:t>
            </a:r>
            <a:r>
              <a:rPr sz="1100">
                <a:solidFill>
                  <a:srgbClr val="1E293B"/>
                </a:solidFill>
              </a:rPr>
              <a:t>Resolves coordinates via OpenStreetMap Nominatim or internal 38-District Tamil Nadu database.</a:t>
            </a:r>
          </a:p>
        </p:txBody>
      </p:sp>
      <p:sp>
        <p:nvSpPr>
          <p:cNvPr id="10" name="Rounded Rectangle 9"/>
          <p:cNvSpPr/>
          <p:nvPr/>
        </p:nvSpPr>
        <p:spPr>
          <a:xfrm>
            <a:off x="600000" y="325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000" y="3400000"/>
            <a:ext cx="10500000" cy="700000"/>
          </a:xfrm>
          <a:prstGeom prst="rect">
            <a:avLst/>
          </a:prstGeom>
          <a:noFill/>
        </p:spPr>
        <p:txBody>
          <a:bodyPr wrap="square" lIns="0" tIns="0">
            <a:spAutoFit/>
          </a:bodyPr>
          <a:lstStyle/>
          <a:p>
            <a:r>
              <a:rPr b="1" sz="1200">
                <a:solidFill>
                  <a:srgbClr val="2563EB"/>
                </a:solidFill>
              </a:rPr>
              <a:t>Step 3: Path Extraction: </a:t>
            </a:r>
            <a:r>
              <a:rPr sz="1100">
                <a:solidFill>
                  <a:srgbClr val="1E293B"/>
                </a:solidFill>
              </a:rPr>
              <a:t>Queries OSRM driving engine; generates waypoint corridors to discover realistic road detours.</a:t>
            </a:r>
          </a:p>
        </p:txBody>
      </p:sp>
      <p:sp>
        <p:nvSpPr>
          <p:cNvPr id="12" name="Rounded Rectangle 11"/>
          <p:cNvSpPr/>
          <p:nvPr/>
        </p:nvSpPr>
        <p:spPr>
          <a:xfrm>
            <a:off x="600000" y="430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000" y="4450000"/>
            <a:ext cx="10500000" cy="700000"/>
          </a:xfrm>
          <a:prstGeom prst="rect">
            <a:avLst/>
          </a:prstGeom>
          <a:noFill/>
        </p:spPr>
        <p:txBody>
          <a:bodyPr wrap="square" lIns="0" tIns="0">
            <a:spAutoFit/>
          </a:bodyPr>
          <a:lstStyle/>
          <a:p>
            <a:r>
              <a:rPr b="1" sz="1200">
                <a:solidFill>
                  <a:srgbClr val="2563EB"/>
                </a:solidFill>
              </a:rPr>
              <a:t>Step 4: AI Context &amp; Scoring: </a:t>
            </a:r>
            <a:r>
              <a:rPr sz="1100">
                <a:solidFill>
                  <a:srgbClr val="1E293B"/>
                </a:solidFill>
              </a:rPr>
              <a:t>Enriches route geometry with traffic_data.csv, capacity metrics, incident flags and toll plazas.</a:t>
            </a:r>
          </a:p>
        </p:txBody>
      </p:sp>
      <p:sp>
        <p:nvSpPr>
          <p:cNvPr id="14" name="Rounded Rectangle 13"/>
          <p:cNvSpPr/>
          <p:nvPr/>
        </p:nvSpPr>
        <p:spPr>
          <a:xfrm>
            <a:off x="600000" y="535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000" y="5500000"/>
            <a:ext cx="10500000" cy="700000"/>
          </a:xfrm>
          <a:prstGeom prst="rect">
            <a:avLst/>
          </a:prstGeom>
          <a:noFill/>
        </p:spPr>
        <p:txBody>
          <a:bodyPr wrap="square" lIns="0" tIns="0">
            <a:spAutoFit/>
          </a:bodyPr>
          <a:lstStyle/>
          <a:p>
            <a:r>
              <a:rPr b="1" sz="1200">
                <a:solidFill>
                  <a:srgbClr val="2563EB"/>
                </a:solidFill>
              </a:rPr>
              <a:t>Step 5: Visual Presentation: </a:t>
            </a:r>
            <a:r>
              <a:rPr sz="1100">
                <a:solidFill>
                  <a:srgbClr val="1E293B"/>
                </a:solidFill>
              </a:rPr>
              <a:t>Renders ranked polyline maps in Leaflet, animates vehicle flow, and displays explainable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Live Results: Traffic Dashboard &amp; Interactive Route Map</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pic>
        <p:nvPicPr>
          <p:cNvPr id="6" name="Picture 5" descr="slide_10_Outcome_screenshot_1.jpg"/>
          <p:cNvPicPr>
            <a:picLocks noChangeAspect="1"/>
          </p:cNvPicPr>
          <p:nvPr/>
        </p:nvPicPr>
        <p:blipFill>
          <a:blip r:embed="rId3"/>
          <a:stretch>
            <a:fillRect/>
          </a:stretch>
        </p:blipFill>
        <p:spPr>
          <a:xfrm>
            <a:off x="600000" y="1100000"/>
            <a:ext cx="10992000" cy="5400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Live Results: AI Multi-Route Comparison &amp; Ranking</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pic>
        <p:nvPicPr>
          <p:cNvPr id="6" name="Picture 5" descr="slide_11_Outcome_screenshot_2.jpg"/>
          <p:cNvPicPr>
            <a:picLocks noChangeAspect="1"/>
          </p:cNvPicPr>
          <p:nvPr/>
        </p:nvPicPr>
        <p:blipFill>
          <a:blip r:embed="rId3"/>
          <a:stretch>
            <a:fillRect/>
          </a:stretch>
        </p:blipFill>
        <p:spPr>
          <a:xfrm>
            <a:off x="600000" y="1100000"/>
            <a:ext cx="10992000" cy="5400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Live Results: Toll Calculation, AQI &amp; Future Predictions</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pic>
        <p:nvPicPr>
          <p:cNvPr id="6" name="Picture 5" descr="slide_12_Outcome_screenshot_3.jpg"/>
          <p:cNvPicPr>
            <a:picLocks noChangeAspect="1"/>
          </p:cNvPicPr>
          <p:nvPr/>
        </p:nvPicPr>
        <p:blipFill>
          <a:blip r:embed="rId3"/>
          <a:stretch>
            <a:fillRect/>
          </a:stretch>
        </p:blipFill>
        <p:spPr>
          <a:xfrm>
            <a:off x="600000" y="1100000"/>
            <a:ext cx="10992000" cy="5400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Real Traffic Model Output: Simulation &amp; Analytics</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00000"/>
            <a:ext cx="5300000" cy="36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250000"/>
            <a:ext cx="4900000" cy="400000"/>
          </a:xfrm>
          <a:prstGeom prst="rect">
            <a:avLst/>
          </a:prstGeom>
          <a:noFill/>
        </p:spPr>
        <p:txBody>
          <a:bodyPr wrap="square" lIns="0" tIns="0" rIns="0" bIns="0">
            <a:spAutoFit/>
          </a:bodyPr>
          <a:lstStyle/>
          <a:p>
            <a:r>
              <a:rPr sz="1400" b="1">
                <a:solidFill>
                  <a:srgbClr val="0F172A"/>
                </a:solidFill>
              </a:rPr>
              <a:t>📈 Traffic Flow &amp; Congestion Index</a:t>
            </a:r>
          </a:p>
        </p:txBody>
      </p:sp>
      <p:pic>
        <p:nvPicPr>
          <p:cNvPr id="8" name="Picture 7" descr="traffic_analysis.png"/>
          <p:cNvPicPr>
            <a:picLocks noChangeAspect="1"/>
          </p:cNvPicPr>
          <p:nvPr/>
        </p:nvPicPr>
        <p:blipFill>
          <a:blip r:embed="rId3"/>
          <a:stretch>
            <a:fillRect/>
          </a:stretch>
        </p:blipFill>
        <p:spPr>
          <a:xfrm>
            <a:off x="750000" y="1550000"/>
            <a:ext cx="5000000" cy="3000000"/>
          </a:xfrm>
          <a:prstGeom prst="rect">
            <a:avLst/>
          </a:prstGeom>
        </p:spPr>
      </p:pic>
      <p:sp>
        <p:nvSpPr>
          <p:cNvPr id="9" name="Rounded Rectangle 8"/>
          <p:cNvSpPr/>
          <p:nvPr/>
        </p:nvSpPr>
        <p:spPr>
          <a:xfrm>
            <a:off x="6200000" y="1100000"/>
            <a:ext cx="5300000" cy="36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250000"/>
            <a:ext cx="4900000" cy="400000"/>
          </a:xfrm>
          <a:prstGeom prst="rect">
            <a:avLst/>
          </a:prstGeom>
          <a:noFill/>
        </p:spPr>
        <p:txBody>
          <a:bodyPr wrap="square" lIns="0" tIns="0" rIns="0" bIns="0">
            <a:spAutoFit/>
          </a:bodyPr>
          <a:lstStyle/>
          <a:p>
            <a:r>
              <a:rPr sz="1400" b="1">
                <a:solidFill>
                  <a:srgbClr val="0F172A"/>
                </a:solidFill>
              </a:rPr>
              <a:t>📉 Average Vehicle Speed Dynamics</a:t>
            </a:r>
          </a:p>
        </p:txBody>
      </p:sp>
      <p:pic>
        <p:nvPicPr>
          <p:cNvPr id="11" name="Picture 10" descr="average_speed_graph.png"/>
          <p:cNvPicPr>
            <a:picLocks noChangeAspect="1"/>
          </p:cNvPicPr>
          <p:nvPr/>
        </p:nvPicPr>
        <p:blipFill>
          <a:blip r:embed="rId4"/>
          <a:stretch>
            <a:fillRect/>
          </a:stretch>
        </p:blipFill>
        <p:spPr>
          <a:xfrm>
            <a:off x="6350000" y="1550000"/>
            <a:ext cx="5000000" cy="3000000"/>
          </a:xfrm>
          <a:prstGeom prst="rect">
            <a:avLst/>
          </a:prstGeom>
        </p:spPr>
      </p:pic>
      <p:sp>
        <p:nvSpPr>
          <p:cNvPr id="12" name="Rounded Rectangle 11"/>
          <p:cNvSpPr/>
          <p:nvPr/>
        </p:nvSpPr>
        <p:spPr>
          <a:xfrm>
            <a:off x="600000" y="4900000"/>
            <a:ext cx="10992000" cy="160000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000" y="5050000"/>
            <a:ext cx="10500000" cy="1300000"/>
          </a:xfrm>
          <a:prstGeom prst="rect">
            <a:avLst/>
          </a:prstGeom>
          <a:noFill/>
        </p:spPr>
        <p:txBody>
          <a:bodyPr wrap="square">
            <a:spAutoFit/>
          </a:bodyPr>
          <a:lstStyle/>
          <a:p>
            <a:r>
              <a:rPr b="1" sz="1200">
                <a:solidFill>
                  <a:srgbClr val="10B981"/>
                </a:solidFill>
              </a:rPr>
              <a:t>🔬 Empirical Simulation Findings:
</a:t>
            </a:r>
            <a:r>
              <a:rPr sz="1050">
                <a:solidFill>
                  <a:srgbClr val="1E293B"/>
                </a:solidFill>
              </a:rPr>
              <a:t>• Peak vehicle accumulation occurs at arterial junctions during T=1200s to T=1800s, causing speeds to drop by 42%.
• Corridors with active AI diversion showed 28% faster recovery to normal speeds compared to unoptimized routing.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Predictive Modelling: 'What-If' Simulation &amp; Congestion Spread</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50000"/>
            <a:ext cx="5300000" cy="5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300000"/>
            <a:ext cx="4900000" cy="400000"/>
          </a:xfrm>
          <a:prstGeom prst="rect">
            <a:avLst/>
          </a:prstGeom>
          <a:noFill/>
        </p:spPr>
        <p:txBody>
          <a:bodyPr wrap="square" lIns="0" tIns="0" rIns="0" bIns="0">
            <a:spAutoFit/>
          </a:bodyPr>
          <a:lstStyle/>
          <a:p>
            <a:r>
              <a:rPr sz="1400" b="1">
                <a:solidFill>
                  <a:srgbClr val="0F172A"/>
                </a:solidFill>
              </a:rPr>
              <a:t>🚧 What-If Incident Simulation</a:t>
            </a:r>
          </a:p>
        </p:txBody>
      </p:sp>
      <p:sp>
        <p:nvSpPr>
          <p:cNvPr id="8" name="TextBox 7"/>
          <p:cNvSpPr txBox="1"/>
          <p:nvPr/>
        </p:nvSpPr>
        <p:spPr>
          <a:xfrm>
            <a:off x="850000" y="1750000"/>
            <a:ext cx="4800000" cy="4400000"/>
          </a:xfrm>
          <a:prstGeom prst="rect">
            <a:avLst/>
          </a:prstGeom>
          <a:noFill/>
        </p:spPr>
        <p:txBody>
          <a:bodyPr wrap="square" lIns="0" tIns="0">
            <a:spAutoFit/>
          </a:bodyPr>
          <a:lstStyle/>
          <a:p>
            <a:r>
              <a:rPr sz="1050">
                <a:solidFill>
                  <a:srgbClr val="1E293B"/>
                </a:solidFill>
              </a:rPr>
              <a:t>Scenario: 30-Minute Road Blockage on GST Road
• Affected Corridor: Mount Road
  - Normal Flow: 796 vehicles/hr
  - Simulated Flow: 844 vehicles/hr
  - Traffic Increase: +6.03%
  - Congestion Level: MEDIUM (Delay: +1.8 mins)
• Affected Corridor: Velachery Main Road
  - Normal Flow: 644 vehicles/hr
  - Simulated Flow: 692 vehicles/hr
  - Traffic Increase: +7.45%
  - Congestion Level: MEDIUM (Delay: +2.2 mins)
Enables traffic police to preposition patrol personnel before bottlenecks solidify.</a:t>
            </a:r>
          </a:p>
        </p:txBody>
      </p:sp>
      <p:sp>
        <p:nvSpPr>
          <p:cNvPr id="9" name="Rounded Rectangle 8"/>
          <p:cNvSpPr/>
          <p:nvPr/>
        </p:nvSpPr>
        <p:spPr>
          <a:xfrm>
            <a:off x="6200000" y="1150000"/>
            <a:ext cx="5300000" cy="5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300000"/>
            <a:ext cx="4900000" cy="400000"/>
          </a:xfrm>
          <a:prstGeom prst="rect">
            <a:avLst/>
          </a:prstGeom>
          <a:noFill/>
        </p:spPr>
        <p:txBody>
          <a:bodyPr wrap="square" lIns="0" tIns="0" rIns="0" bIns="0">
            <a:spAutoFit/>
          </a:bodyPr>
          <a:lstStyle/>
          <a:p>
            <a:r>
              <a:rPr sz="1400" b="1">
                <a:solidFill>
                  <a:srgbClr val="0F172A"/>
                </a:solidFill>
              </a:rPr>
              <a:t>🌊 Downstream Congestion Propagation</a:t>
            </a:r>
          </a:p>
        </p:txBody>
      </p:sp>
      <p:sp>
        <p:nvSpPr>
          <p:cNvPr id="11" name="TextBox 10"/>
          <p:cNvSpPr txBox="1"/>
          <p:nvPr/>
        </p:nvSpPr>
        <p:spPr>
          <a:xfrm>
            <a:off x="6450000" y="1750000"/>
            <a:ext cx="4800000" cy="4400000"/>
          </a:xfrm>
          <a:prstGeom prst="rect">
            <a:avLst/>
          </a:prstGeom>
          <a:noFill/>
        </p:spPr>
        <p:txBody>
          <a:bodyPr wrap="square" lIns="0" tIns="0">
            <a:spAutoFit/>
          </a:bodyPr>
          <a:lstStyle/>
          <a:p>
            <a:r>
              <a:rPr sz="1050">
                <a:solidFill>
                  <a:srgbClr val="1E293B"/>
                </a:solidFill>
              </a:rPr>
              <a:t>Congestion Ripple Effect Forecast:
• Source Bottleneck: GST Road Expressway
• Target 1: Mount Road Connector
  - Spillover Probability: 34.1%
  - Estimated Time to Impact: 30 minutes
  - Projected Severity: LOW - MODERATE
• Target 2: Velachery Main Road
  - Spillover Probability: 31.4%
  - Estimated Time to Impact: 30 minutes
  - Projected Severity: LOW - MODERATE
Provides predictive lead time rather than purely reactive incident handling.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Data Transparency, Integrity &amp; Limitations</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50000"/>
            <a:ext cx="10992000" cy="1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300000"/>
            <a:ext cx="10592000" cy="400000"/>
          </a:xfrm>
          <a:prstGeom prst="rect">
            <a:avLst/>
          </a:prstGeom>
          <a:noFill/>
        </p:spPr>
        <p:txBody>
          <a:bodyPr wrap="square" lIns="0" tIns="0" rIns="0" bIns="0">
            <a:spAutoFit/>
          </a:bodyPr>
          <a:lstStyle/>
          <a:p>
            <a:r>
              <a:rPr sz="1400" b="1">
                <a:solidFill>
                  <a:srgbClr val="0F172A"/>
                </a:solidFill>
              </a:rPr>
              <a:t>🏷️ Explicit Source Attribution</a:t>
            </a:r>
          </a:p>
        </p:txBody>
      </p:sp>
      <p:sp>
        <p:nvSpPr>
          <p:cNvPr id="8" name="TextBox 7"/>
          <p:cNvSpPr txBox="1"/>
          <p:nvPr/>
        </p:nvSpPr>
        <p:spPr>
          <a:xfrm>
            <a:off x="850000" y="1650000"/>
            <a:ext cx="10500000" cy="600000"/>
          </a:xfrm>
          <a:prstGeom prst="rect">
            <a:avLst/>
          </a:prstGeom>
          <a:noFill/>
        </p:spPr>
        <p:txBody>
          <a:bodyPr wrap="square" lIns="0" tIns="0">
            <a:spAutoFit/>
          </a:bodyPr>
          <a:lstStyle/>
          <a:p>
            <a:r>
              <a:rPr sz="1050">
                <a:solidFill>
                  <a:srgbClr val="1E293B"/>
                </a:solidFill>
              </a:rPr>
              <a:t>Every data point in the dashboard carries a verifiable origin tag: LIVE (fetched from real OpenStreetMap OSRM routing and Open-Meteo services), CSV (parsed from project datasets), ESTIMATE (calculated vehicle-class factors), or SIMULATED (model projections).</a:t>
            </a:r>
          </a:p>
        </p:txBody>
      </p:sp>
      <p:sp>
        <p:nvSpPr>
          <p:cNvPr id="9" name="Rounded Rectangle 8"/>
          <p:cNvSpPr/>
          <p:nvPr/>
        </p:nvSpPr>
        <p:spPr>
          <a:xfrm>
            <a:off x="600000" y="2500000"/>
            <a:ext cx="10992000" cy="1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000" y="2650000"/>
            <a:ext cx="10592000" cy="400000"/>
          </a:xfrm>
          <a:prstGeom prst="rect">
            <a:avLst/>
          </a:prstGeom>
          <a:noFill/>
        </p:spPr>
        <p:txBody>
          <a:bodyPr wrap="square" lIns="0" tIns="0" rIns="0" bIns="0">
            <a:spAutoFit/>
          </a:bodyPr>
          <a:lstStyle/>
          <a:p>
            <a:r>
              <a:rPr sz="1400" b="1">
                <a:solidFill>
                  <a:srgbClr val="0F172A"/>
                </a:solidFill>
              </a:rPr>
              <a:t>⚠️ Simulation vs Telemetry Boundaries</a:t>
            </a:r>
          </a:p>
        </p:txBody>
      </p:sp>
      <p:sp>
        <p:nvSpPr>
          <p:cNvPr id="11" name="TextBox 10"/>
          <p:cNvSpPr txBox="1"/>
          <p:nvPr/>
        </p:nvSpPr>
        <p:spPr>
          <a:xfrm>
            <a:off x="850000" y="3000000"/>
            <a:ext cx="10500000" cy="600000"/>
          </a:xfrm>
          <a:prstGeom prst="rect">
            <a:avLst/>
          </a:prstGeom>
          <a:noFill/>
        </p:spPr>
        <p:txBody>
          <a:bodyPr wrap="square" lIns="0" tIns="0">
            <a:spAutoFit/>
          </a:bodyPr>
          <a:lstStyle/>
          <a:p>
            <a:r>
              <a:rPr sz="1050">
                <a:solidFill>
                  <a:srgbClr val="1E293B"/>
                </a:solidFill>
              </a:rPr>
              <a:t>Vehicle animated markers demonstrate route progression and flow patterns; they are clearly labelled as simulation representations rather than live hardware GPS tracking.</a:t>
            </a:r>
          </a:p>
        </p:txBody>
      </p:sp>
      <p:sp>
        <p:nvSpPr>
          <p:cNvPr id="12" name="Rounded Rectangle 11"/>
          <p:cNvSpPr/>
          <p:nvPr/>
        </p:nvSpPr>
        <p:spPr>
          <a:xfrm>
            <a:off x="600000" y="3850000"/>
            <a:ext cx="10992000" cy="1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000" y="4000000"/>
            <a:ext cx="10592000" cy="400000"/>
          </a:xfrm>
          <a:prstGeom prst="rect">
            <a:avLst/>
          </a:prstGeom>
          <a:noFill/>
        </p:spPr>
        <p:txBody>
          <a:bodyPr wrap="square" lIns="0" tIns="0" rIns="0" bIns="0">
            <a:spAutoFit/>
          </a:bodyPr>
          <a:lstStyle/>
          <a:p>
            <a:r>
              <a:rPr sz="1400" b="1">
                <a:solidFill>
                  <a:srgbClr val="0F172A"/>
                </a:solidFill>
              </a:rPr>
              <a:t>🗺️ Public Routing Service Realities</a:t>
            </a:r>
          </a:p>
        </p:txBody>
      </p:sp>
      <p:sp>
        <p:nvSpPr>
          <p:cNvPr id="14" name="TextBox 13"/>
          <p:cNvSpPr txBox="1"/>
          <p:nvPr/>
        </p:nvSpPr>
        <p:spPr>
          <a:xfrm>
            <a:off x="850000" y="4350000"/>
            <a:ext cx="10500000" cy="600000"/>
          </a:xfrm>
          <a:prstGeom prst="rect">
            <a:avLst/>
          </a:prstGeom>
          <a:noFill/>
        </p:spPr>
        <p:txBody>
          <a:bodyPr wrap="square" lIns="0" tIns="0">
            <a:spAutoFit/>
          </a:bodyPr>
          <a:lstStyle/>
          <a:p>
            <a:r>
              <a:rPr sz="1050">
                <a:solidFill>
                  <a:srgbClr val="1E293B"/>
                </a:solidFill>
              </a:rPr>
              <a:t>OSRM public routing returns genuine, road-snapped paths. If a highway alternative is not currently indexed in the open graph, the system never fabricates an imaginary route; it displays verified paths only.</a:t>
            </a:r>
          </a:p>
        </p:txBody>
      </p:sp>
      <p:sp>
        <p:nvSpPr>
          <p:cNvPr id="15" name="Rounded Rectangle 14"/>
          <p:cNvSpPr/>
          <p:nvPr/>
        </p:nvSpPr>
        <p:spPr>
          <a:xfrm>
            <a:off x="600000" y="5200000"/>
            <a:ext cx="10992000" cy="12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000" y="5350000"/>
            <a:ext cx="10592000" cy="400000"/>
          </a:xfrm>
          <a:prstGeom prst="rect">
            <a:avLst/>
          </a:prstGeom>
          <a:noFill/>
        </p:spPr>
        <p:txBody>
          <a:bodyPr wrap="square" lIns="0" tIns="0" rIns="0" bIns="0">
            <a:spAutoFit/>
          </a:bodyPr>
          <a:lstStyle/>
          <a:p>
            <a:r>
              <a:rPr sz="1400" b="1">
                <a:solidFill>
                  <a:srgbClr val="0F172A"/>
                </a:solidFill>
              </a:rPr>
              <a:t>🛡️ Ethical AI Standards</a:t>
            </a:r>
          </a:p>
        </p:txBody>
      </p:sp>
      <p:sp>
        <p:nvSpPr>
          <p:cNvPr id="17" name="TextBox 16"/>
          <p:cNvSpPr txBox="1"/>
          <p:nvPr/>
        </p:nvSpPr>
        <p:spPr>
          <a:xfrm>
            <a:off x="850000" y="5700000"/>
            <a:ext cx="10500000" cy="600000"/>
          </a:xfrm>
          <a:prstGeom prst="rect">
            <a:avLst/>
          </a:prstGeom>
          <a:noFill/>
        </p:spPr>
        <p:txBody>
          <a:bodyPr wrap="square" lIns="0" tIns="0">
            <a:spAutoFit/>
          </a:bodyPr>
          <a:lstStyle/>
          <a:p>
            <a:r>
              <a:rPr sz="1050">
                <a:solidFill>
                  <a:srgbClr val="1E293B"/>
                </a:solidFill>
              </a:rPr>
              <a:t>No synthetic scores or biased toll values are invented. Incomplete datasets gracefully display transparent 'Unavailable' or documented benchmark flags.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Conclusion: Deliverables &amp; Key Achievements</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2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000" y="1350000"/>
            <a:ext cx="4900000" cy="400000"/>
          </a:xfrm>
          <a:prstGeom prst="rect">
            <a:avLst/>
          </a:prstGeom>
          <a:noFill/>
        </p:spPr>
        <p:txBody>
          <a:bodyPr wrap="square" lIns="0" tIns="0" rIns="0" bIns="0">
            <a:spAutoFit/>
          </a:bodyPr>
          <a:lstStyle/>
          <a:p>
            <a:r>
              <a:rPr sz="1400" b="1">
                <a:solidFill>
                  <a:srgbClr val="0F172A"/>
                </a:solidFill>
              </a:rPr>
              <a:t>✅ Unified Traffic Intelligence</a:t>
            </a:r>
          </a:p>
        </p:txBody>
      </p:sp>
      <p:sp>
        <p:nvSpPr>
          <p:cNvPr id="8" name="TextBox 7"/>
          <p:cNvSpPr txBox="1"/>
          <p:nvPr/>
        </p:nvSpPr>
        <p:spPr>
          <a:xfrm>
            <a:off x="850000" y="1800000"/>
            <a:ext cx="4800000" cy="1600000"/>
          </a:xfrm>
          <a:prstGeom prst="rect">
            <a:avLst/>
          </a:prstGeom>
          <a:noFill/>
        </p:spPr>
        <p:txBody>
          <a:bodyPr wrap="square" lIns="0" tIns="0">
            <a:spAutoFit/>
          </a:bodyPr>
          <a:lstStyle/>
          <a:p>
            <a:r>
              <a:rPr sz="1100">
                <a:solidFill>
                  <a:srgbClr val="1E293B"/>
                </a:solidFill>
              </a:rPr>
              <a:t>Successfully consolidated historical CSV logs, predictive algorithms, and spatial OpenStreetMap networks into a unified, responsive web platform.</a:t>
            </a:r>
          </a:p>
        </p:txBody>
      </p:sp>
      <p:sp>
        <p:nvSpPr>
          <p:cNvPr id="9" name="Rounded Rectangle 8"/>
          <p:cNvSpPr/>
          <p:nvPr/>
        </p:nvSpPr>
        <p:spPr>
          <a:xfrm>
            <a:off x="6200000" y="12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350000"/>
            <a:ext cx="4900000" cy="400000"/>
          </a:xfrm>
          <a:prstGeom prst="rect">
            <a:avLst/>
          </a:prstGeom>
          <a:noFill/>
        </p:spPr>
        <p:txBody>
          <a:bodyPr wrap="square" lIns="0" tIns="0" rIns="0" bIns="0">
            <a:spAutoFit/>
          </a:bodyPr>
          <a:lstStyle/>
          <a:p>
            <a:r>
              <a:rPr sz="1400" b="1">
                <a:solidFill>
                  <a:srgbClr val="0F172A"/>
                </a:solidFill>
              </a:rPr>
              <a:t>✅ Multi-Vehicle Accessibility</a:t>
            </a:r>
          </a:p>
        </p:txBody>
      </p:sp>
      <p:sp>
        <p:nvSpPr>
          <p:cNvPr id="11" name="TextBox 10"/>
          <p:cNvSpPr txBox="1"/>
          <p:nvPr/>
        </p:nvSpPr>
        <p:spPr>
          <a:xfrm>
            <a:off x="6450000" y="1800000"/>
            <a:ext cx="4800000" cy="1600000"/>
          </a:xfrm>
          <a:prstGeom prst="rect">
            <a:avLst/>
          </a:prstGeom>
          <a:noFill/>
        </p:spPr>
        <p:txBody>
          <a:bodyPr wrap="square" lIns="0" tIns="0">
            <a:spAutoFit/>
          </a:bodyPr>
          <a:lstStyle/>
          <a:p>
            <a:r>
              <a:rPr sz="1100">
                <a:solidFill>
                  <a:srgbClr val="1E293B"/>
                </a:solidFill>
              </a:rPr>
              <a:t>Tailored route recommendations for Two-Wheelers, Passenger Cars, and Heavy Vehicles, reflecting realistic highway conditions.</a:t>
            </a:r>
          </a:p>
        </p:txBody>
      </p:sp>
      <p:sp>
        <p:nvSpPr>
          <p:cNvPr id="12" name="Rounded Rectangle 11"/>
          <p:cNvSpPr/>
          <p:nvPr/>
        </p:nvSpPr>
        <p:spPr>
          <a:xfrm>
            <a:off x="600000" y="38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000" y="3950000"/>
            <a:ext cx="4900000" cy="400000"/>
          </a:xfrm>
          <a:prstGeom prst="rect">
            <a:avLst/>
          </a:prstGeom>
          <a:noFill/>
        </p:spPr>
        <p:txBody>
          <a:bodyPr wrap="square" lIns="0" tIns="0" rIns="0" bIns="0">
            <a:spAutoFit/>
          </a:bodyPr>
          <a:lstStyle/>
          <a:p>
            <a:r>
              <a:rPr sz="1400" b="1">
                <a:solidFill>
                  <a:srgbClr val="0F172A"/>
                </a:solidFill>
              </a:rPr>
              <a:t>✅ Full Economic Transparency</a:t>
            </a:r>
          </a:p>
        </p:txBody>
      </p:sp>
      <p:sp>
        <p:nvSpPr>
          <p:cNvPr id="14" name="TextBox 13"/>
          <p:cNvSpPr txBox="1"/>
          <p:nvPr/>
        </p:nvSpPr>
        <p:spPr>
          <a:xfrm>
            <a:off x="850000" y="4400000"/>
            <a:ext cx="4800000" cy="1600000"/>
          </a:xfrm>
          <a:prstGeom prst="rect">
            <a:avLst/>
          </a:prstGeom>
          <a:noFill/>
        </p:spPr>
        <p:txBody>
          <a:bodyPr wrap="square" lIns="0" tIns="0">
            <a:spAutoFit/>
          </a:bodyPr>
          <a:lstStyle/>
          <a:p>
            <a:r>
              <a:rPr sz="1100">
                <a:solidFill>
                  <a:srgbClr val="1E293B"/>
                </a:solidFill>
              </a:rPr>
              <a:t>Calculates toll plaza fees and displays environmental pollution (AQI) levels alongside travel duration and distance.</a:t>
            </a:r>
          </a:p>
        </p:txBody>
      </p:sp>
      <p:sp>
        <p:nvSpPr>
          <p:cNvPr id="15" name="Rounded Rectangle 14"/>
          <p:cNvSpPr/>
          <p:nvPr/>
        </p:nvSpPr>
        <p:spPr>
          <a:xfrm>
            <a:off x="6200000" y="3800000"/>
            <a:ext cx="5300000" cy="240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000" y="3950000"/>
            <a:ext cx="4900000" cy="400000"/>
          </a:xfrm>
          <a:prstGeom prst="rect">
            <a:avLst/>
          </a:prstGeom>
          <a:noFill/>
        </p:spPr>
        <p:txBody>
          <a:bodyPr wrap="square" lIns="0" tIns="0" rIns="0" bIns="0">
            <a:spAutoFit/>
          </a:bodyPr>
          <a:lstStyle/>
          <a:p>
            <a:r>
              <a:rPr sz="1400" b="1">
                <a:solidFill>
                  <a:srgbClr val="0F172A"/>
                </a:solidFill>
              </a:rPr>
              <a:t>✅ High Availability Deployment</a:t>
            </a:r>
          </a:p>
        </p:txBody>
      </p:sp>
      <p:sp>
        <p:nvSpPr>
          <p:cNvPr id="17" name="TextBox 16"/>
          <p:cNvSpPr txBox="1"/>
          <p:nvPr/>
        </p:nvSpPr>
        <p:spPr>
          <a:xfrm>
            <a:off x="6450000" y="4400000"/>
            <a:ext cx="4800000" cy="1600000"/>
          </a:xfrm>
          <a:prstGeom prst="rect">
            <a:avLst/>
          </a:prstGeom>
          <a:noFill/>
        </p:spPr>
        <p:txBody>
          <a:bodyPr wrap="square" lIns="0" tIns="0">
            <a:spAutoFit/>
          </a:bodyPr>
          <a:lstStyle/>
          <a:p>
            <a:r>
              <a:rPr sz="1100">
                <a:solidFill>
                  <a:srgbClr val="1E293B"/>
                </a:solidFill>
              </a:rPr>
              <a:t>Live on GitHub Pages with zero-server resilience, backed by Python Flask serverless configurations for Vercel cloud deployment.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100000"/>
            <a:ext cx="8000000" cy="600000"/>
          </a:xfrm>
          <a:prstGeom prst="rect">
            <a:avLst/>
          </a:prstGeom>
          <a:noFill/>
        </p:spPr>
        <p:txBody>
          <a:bodyPr wrap="square" lIns="0" tIns="0" rIns="0" bIns="0">
            <a:spAutoFit/>
          </a:bodyPr>
          <a:lstStyle/>
          <a:p>
            <a:r>
              <a:rPr sz="1000" b="1">
                <a:solidFill>
                  <a:srgbClr val="2563EB"/>
                </a:solidFill>
              </a:rPr>
              <a:t>IIC TRAFFIC AI  •  </a:t>
            </a:r>
            <a:r>
              <a:rPr sz="1800" b="1">
                <a:solidFill>
                  <a:srgbClr val="0F172A"/>
                </a:solidFill>
              </a:rPr>
              <a:t>Future Roadmap: Scalability &amp; Expansion Vision</a:t>
            </a:r>
          </a:p>
        </p:txBody>
      </p:sp>
      <p:sp>
        <p:nvSpPr>
          <p:cNvPr id="5" name="Rounded Rectangle 4"/>
          <p:cNvSpPr/>
          <p:nvPr/>
        </p:nvSpPr>
        <p:spPr>
          <a:xfrm>
            <a:off x="9200000" y="180000"/>
            <a:ext cx="2500000" cy="440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hlinkClick r:id="rId2"/>
              </a:rPr>
              <a:t>🌐 Live System Demo</a:t>
            </a:r>
          </a:p>
        </p:txBody>
      </p:sp>
      <p:sp>
        <p:nvSpPr>
          <p:cNvPr id="6" name="Rounded Rectangle 5"/>
          <p:cNvSpPr/>
          <p:nvPr/>
        </p:nvSpPr>
        <p:spPr>
          <a:xfrm>
            <a:off x="600000" y="115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 y="1300000"/>
            <a:ext cx="10500000" cy="700000"/>
          </a:xfrm>
          <a:prstGeom prst="rect">
            <a:avLst/>
          </a:prstGeom>
          <a:noFill/>
        </p:spPr>
        <p:txBody>
          <a:bodyPr wrap="square" lIns="0" tIns="0">
            <a:spAutoFit/>
          </a:bodyPr>
          <a:lstStyle/>
          <a:p>
            <a:r>
              <a:rPr b="1" sz="1200">
                <a:solidFill>
                  <a:srgbClr val="2563EB"/>
                </a:solidFill>
              </a:rPr>
              <a:t>Phase 1: Real-Time CCTV Vision: </a:t>
            </a:r>
            <a:r>
              <a:rPr sz="1100">
                <a:solidFill>
                  <a:srgbClr val="1E293B"/>
                </a:solidFill>
              </a:rPr>
              <a:t>Deploy computer vision edge models (YOLO) on municipal traffic surveillance cameras for automated vehicle counting and incident detection.</a:t>
            </a:r>
          </a:p>
        </p:txBody>
      </p:sp>
      <p:sp>
        <p:nvSpPr>
          <p:cNvPr id="8" name="Rounded Rectangle 7"/>
          <p:cNvSpPr/>
          <p:nvPr/>
        </p:nvSpPr>
        <p:spPr>
          <a:xfrm>
            <a:off x="600000" y="220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000" y="2350000"/>
            <a:ext cx="10500000" cy="700000"/>
          </a:xfrm>
          <a:prstGeom prst="rect">
            <a:avLst/>
          </a:prstGeom>
          <a:noFill/>
        </p:spPr>
        <p:txBody>
          <a:bodyPr wrap="square" lIns="0" tIns="0">
            <a:spAutoFit/>
          </a:bodyPr>
          <a:lstStyle/>
          <a:p>
            <a:r>
              <a:rPr b="1" sz="1200">
                <a:solidFill>
                  <a:srgbClr val="2563EB"/>
                </a:solidFill>
              </a:rPr>
              <a:t>Phase 2: Live GPS Telemetry: </a:t>
            </a:r>
            <a:r>
              <a:rPr sz="1100">
                <a:solidFill>
                  <a:srgbClr val="1E293B"/>
                </a:solidFill>
              </a:rPr>
              <a:t>Incorporate live GPS transponders from state transit buses and municipal fleets to supersede simulated vehicular movement.</a:t>
            </a:r>
          </a:p>
        </p:txBody>
      </p:sp>
      <p:sp>
        <p:nvSpPr>
          <p:cNvPr id="10" name="Rounded Rectangle 9"/>
          <p:cNvSpPr/>
          <p:nvPr/>
        </p:nvSpPr>
        <p:spPr>
          <a:xfrm>
            <a:off x="600000" y="325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000" y="3400000"/>
            <a:ext cx="10500000" cy="700000"/>
          </a:xfrm>
          <a:prstGeom prst="rect">
            <a:avLst/>
          </a:prstGeom>
          <a:noFill/>
        </p:spPr>
        <p:txBody>
          <a:bodyPr wrap="square" lIns="0" tIns="0">
            <a:spAutoFit/>
          </a:bodyPr>
          <a:lstStyle/>
          <a:p>
            <a:r>
              <a:rPr b="1" sz="1200">
                <a:solidFill>
                  <a:srgbClr val="2563EB"/>
                </a:solidFill>
              </a:rPr>
              <a:t>Phase 3: National Highway FASTag API: </a:t>
            </a:r>
            <a:r>
              <a:rPr sz="1100">
                <a:solidFill>
                  <a:srgbClr val="1E293B"/>
                </a:solidFill>
              </a:rPr>
              <a:t>Connect real-time FASTag toll deduction feeds to reflect dynamic peak/non-peak toll adjustments.</a:t>
            </a:r>
          </a:p>
        </p:txBody>
      </p:sp>
      <p:sp>
        <p:nvSpPr>
          <p:cNvPr id="12" name="Rounded Rectangle 11"/>
          <p:cNvSpPr/>
          <p:nvPr/>
        </p:nvSpPr>
        <p:spPr>
          <a:xfrm>
            <a:off x="600000" y="430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000" y="4450000"/>
            <a:ext cx="10500000" cy="700000"/>
          </a:xfrm>
          <a:prstGeom prst="rect">
            <a:avLst/>
          </a:prstGeom>
          <a:noFill/>
        </p:spPr>
        <p:txBody>
          <a:bodyPr wrap="square" lIns="0" tIns="0">
            <a:spAutoFit/>
          </a:bodyPr>
          <a:lstStyle/>
          <a:p>
            <a:r>
              <a:rPr b="1" sz="1200">
                <a:solidFill>
                  <a:srgbClr val="2563EB"/>
                </a:solidFill>
              </a:rPr>
              <a:t>Phase 4: Sensor-Grade AQI Network: </a:t>
            </a:r>
            <a:r>
              <a:rPr sz="1100">
                <a:solidFill>
                  <a:srgbClr val="1E293B"/>
                </a:solidFill>
              </a:rPr>
              <a:t>Partner with Tamil Nadu Pollution Control Board (TNPCB) for micro-level street-by-street air quality telemetry.</a:t>
            </a:r>
          </a:p>
        </p:txBody>
      </p:sp>
      <p:sp>
        <p:nvSpPr>
          <p:cNvPr id="14" name="Rounded Rectangle 13"/>
          <p:cNvSpPr/>
          <p:nvPr/>
        </p:nvSpPr>
        <p:spPr>
          <a:xfrm>
            <a:off x="600000" y="5350000"/>
            <a:ext cx="10992000" cy="950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000" y="5500000"/>
            <a:ext cx="10500000" cy="700000"/>
          </a:xfrm>
          <a:prstGeom prst="rect">
            <a:avLst/>
          </a:prstGeom>
          <a:noFill/>
        </p:spPr>
        <p:txBody>
          <a:bodyPr wrap="square" lIns="0" tIns="0">
            <a:spAutoFit/>
          </a:bodyPr>
          <a:lstStyle/>
          <a:p>
            <a:r>
              <a:rPr b="1" sz="1200">
                <a:solidFill>
                  <a:srgbClr val="2563EB"/>
                </a:solidFill>
              </a:rPr>
              <a:t>Phase 5: State-Wide Urban Rollout: </a:t>
            </a:r>
            <a:r>
              <a:rPr sz="1100">
                <a:solidFill>
                  <a:srgbClr val="1E293B"/>
                </a:solidFill>
              </a:rPr>
              <a:t>Expand beyond Chennai/Villupuram corridors to encompass all 38 districts, tier-2 municipalities, and industrial clusters.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0000" y="1000000"/>
            <a:ext cx="10192000" cy="1800000"/>
          </a:xfrm>
          <a:prstGeom prst="rect">
            <a:avLst/>
          </a:prstGeom>
          <a:noFill/>
        </p:spPr>
        <p:txBody>
          <a:bodyPr wrap="square">
            <a:spAutoFit/>
          </a:bodyPr>
          <a:lstStyle/>
          <a:p>
            <a:pPr algn="ctr"/>
            <a:r>
              <a:rPr sz="4400" b="1">
                <a:solidFill>
                  <a:srgbClr val="0F172A"/>
                </a:solidFill>
              </a:rPr>
              <a:t>Thank You!
</a:t>
            </a:r>
          </a:p>
          <a:p>
            <a:pPr algn="ctr"/>
            <a:r>
              <a:rPr sz="1800" b="1">
                <a:solidFill>
                  <a:srgbClr val="2563EB"/>
                </a:solidFill>
              </a:rPr>
              <a:t>IIC Traffic AI  •  Questions &amp; Interactive Discussion</a:t>
            </a:r>
          </a:p>
        </p:txBody>
      </p:sp>
      <p:sp>
        <p:nvSpPr>
          <p:cNvPr id="4" name="Rounded Rectangle 3"/>
          <p:cNvSpPr/>
          <p:nvPr/>
        </p:nvSpPr>
        <p:spPr>
          <a:xfrm>
            <a:off x="2500000" y="3000000"/>
            <a:ext cx="7192000" cy="250000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00000" tIns="300000"/>
          <a:lstStyle/>
          <a:p>
            <a:pPr algn="ctr"/>
            <a:r>
              <a:rPr sz="1600" b="1">
                <a:solidFill>
                  <a:srgbClr val="0F172A"/>
                </a:solidFill>
              </a:rPr>
              <a:t>PROJECT LINKS &amp; REPOSITORY
</a:t>
            </a:r>
          </a:p>
          <a:p>
            <a:pPr algn="ctr">
              <a:spcBef>
                <a:spcPts val="1200"/>
              </a:spcBef>
            </a:pPr>
            <a:r>
              <a:rPr sz="1400" b="1">
                <a:solidFill>
                  <a:srgbClr val="1E293B"/>
                </a:solidFill>
              </a:rPr>
              <a:t>🌐 Live Interactive Dashboard:  </a:t>
            </a:r>
            <a:r>
              <a:rPr sz="1400" b="1" u="sng">
                <a:solidFill>
                  <a:srgbClr val="2563EB"/>
                </a:solidFill>
                <a:hlinkClick r:id="rId2"/>
              </a:rPr>
              <a:t>https://manikandan-5027.github.io/IIC-Traffic-AI-2/</a:t>
            </a:r>
          </a:p>
          <a:p>
            <a:pPr algn="ctr">
              <a:spcBef>
                <a:spcPts val="1000"/>
              </a:spcBef>
            </a:pPr>
            <a:r>
              <a:rPr sz="1400" b="1">
                <a:solidFill>
                  <a:srgbClr val="1E293B"/>
                </a:solidFill>
              </a:rPr>
              <a:t>💻 GitHub Source Code:  </a:t>
            </a:r>
            <a:r>
              <a:rPr sz="1400" b="1" u="sng">
                <a:solidFill>
                  <a:srgbClr val="2563EB"/>
                </a:solidFill>
                <a:hlinkClick r:id="rId3"/>
              </a:rPr>
              <a:t>https://github.com/MANIKANDAN-5027/IIC-Traffic-AI-2</a:t>
            </a:r>
          </a:p>
        </p:txBody>
      </p:sp>
      <p:sp>
        <p:nvSpPr>
          <p:cNvPr id="5" name="TextBox 4"/>
          <p:cNvSpPr txBox="1"/>
          <p:nvPr/>
        </p:nvSpPr>
        <p:spPr>
          <a:xfrm>
            <a:off x="1000000" y="5800000"/>
            <a:ext cx="10192000" cy="600000"/>
          </a:xfrm>
          <a:prstGeom prst="rect">
            <a:avLst/>
          </a:prstGeom>
          <a:noFill/>
        </p:spPr>
        <p:txBody>
          <a:bodyPr wrap="none">
            <a:spAutoFit/>
          </a:bodyPr>
          <a:lstStyle/>
          <a:p>
            <a:pPr algn="ctr"/>
            <a:r>
              <a:rPr sz="1100" b="1">
                <a:solidFill>
                  <a:srgbClr val="64748B"/>
                </a:solidFill>
              </a:rPr>
              <a:t>Team: Rakesh Kumar S (Lead)  •  Manikandan S  •  Mentor: SANTHOSH P  •  UCE Villupuram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