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0" r:id="rId2"/>
  </p:sldMasterIdLst>
  <p:notesMasterIdLst>
    <p:notesMasterId r:id="rId20"/>
  </p:notesMasterIdLst>
  <p:sldIdLst>
    <p:sldId id="526" r:id="rId3"/>
    <p:sldId id="575" r:id="rId4"/>
    <p:sldId id="576" r:id="rId5"/>
    <p:sldId id="577" r:id="rId6"/>
    <p:sldId id="578" r:id="rId7"/>
    <p:sldId id="579" r:id="rId8"/>
    <p:sldId id="588" r:id="rId9"/>
    <p:sldId id="589" r:id="rId10"/>
    <p:sldId id="580" r:id="rId11"/>
    <p:sldId id="582" r:id="rId12"/>
    <p:sldId id="585" r:id="rId13"/>
    <p:sldId id="592" r:id="rId14"/>
    <p:sldId id="591" r:id="rId15"/>
    <p:sldId id="590" r:id="rId16"/>
    <p:sldId id="583" r:id="rId17"/>
    <p:sldId id="584" r:id="rId18"/>
    <p:sldId id="558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240" userDrawn="1">
          <p15:clr>
            <a:srgbClr val="A4A3A4"/>
          </p15:clr>
        </p15:guide>
        <p15:guide id="3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0810177C-6EA3-6186-7649-8D6D6D52A6A9}" name="Garima Mahendru" initials="GM" userId="S::gmahendru@edunetfoundation.org::096543be-f831-49f1-b7d3-23568e7a55d4" providerId="AD"/>
  <p188:author id="{E03327A5-5EEC-D76F-0947-6E3B989BA983}" name="Mohd Kaisar" initials="MK" userId="S::kaisar@edunetfoundation.org::9c081128-0687-4cc5-906f-c826450d4c39" providerId="AD"/>
  <p188:author id="{71631FAC-AC08-8817-355E-DDD25DC673CF}" name="Prita Pradhan" initials="PP" userId="S::prita@edunetfoundation.org::3cf5e9ae-a1ce-4d16-a2c2-46a0ba8102bb" providerId="AD"/>
  <p188:author id="{D0A8B7BB-36D1-777B-64C8-9A30C894A727}" name="Rashmi Mishra" initials="RM" userId="S::rmishra@edunetfoundation.org::6469e6c3-66fa-4f4f-9c10-a71ac4161bf2" providerId="AD"/>
  <p188:author id="{6C0DB0E9-B32A-9F23-3DA3-A439C27D96D2}" name="Sagar Chetan Mehta" initials="SM" userId="S::scmehta@edunetfoundation.org::ddaf8de6-076e-4574-ada4-319f72b03244" providerId="AD"/>
  <p188:author id="{1BCC0DF1-20A6-9F0E-4F8D-B350BE78BCCC}" name="Pravin Prajapati" initials="PP" userId="S::pravin@edunetfoundation.org::9f0ce95f-5aee-43b0-8285-2e8ab565fd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6AE"/>
    <a:srgbClr val="FDEC99"/>
    <a:srgbClr val="FEF5CA"/>
    <a:srgbClr val="D1E0F7"/>
    <a:srgbClr val="56E1E3"/>
    <a:srgbClr val="FFCC00"/>
    <a:srgbClr val="3779DB"/>
    <a:srgbClr val="ED1C24"/>
    <a:srgbClr val="FFD500"/>
    <a:srgbClr val="203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216" y="-206"/>
      </p:cViewPr>
      <p:guideLst>
        <p:guide orient="horz" pos="672"/>
        <p:guide pos="240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B285-B359-37B4-6BF3-31648320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989EB-A9EA-26D4-F3E9-AE6E1E281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C8208-4395-CE4B-9D91-78D7FDE46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10EA3-6BDA-E613-8012-9C7AB116E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592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28D54-4CB4-418F-9EAD-5CF394B7AA3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861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78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80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6678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2FC9068-D610-4D15-5441-BC9F9322446E}"/>
              </a:ext>
            </a:extLst>
          </p:cNvPr>
          <p:cNvGrpSpPr/>
          <p:nvPr userDrawn="1"/>
        </p:nvGrpSpPr>
        <p:grpSpPr>
          <a:xfrm>
            <a:off x="9082391" y="-46610"/>
            <a:ext cx="2749685" cy="766455"/>
            <a:chOff x="8780834" y="0"/>
            <a:chExt cx="2749685" cy="76645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9F804EB-6345-A797-711C-48D98BCB20FE}"/>
                </a:ext>
              </a:extLst>
            </p:cNvPr>
            <p:cNvSpPr/>
            <p:nvPr userDrawn="1"/>
          </p:nvSpPr>
          <p:spPr>
            <a:xfrm>
              <a:off x="8784076" y="61605"/>
              <a:ext cx="2746443" cy="704850"/>
            </a:xfrm>
            <a:prstGeom prst="round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D8899F7-8050-0B38-4F2D-F4FA4A47EE98}"/>
                </a:ext>
              </a:extLst>
            </p:cNvPr>
            <p:cNvSpPr/>
            <p:nvPr userDrawn="1"/>
          </p:nvSpPr>
          <p:spPr>
            <a:xfrm>
              <a:off x="8780834" y="0"/>
              <a:ext cx="2746443" cy="7048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2E813B-0B60-218C-E82E-80946129BBFC}"/>
              </a:ext>
            </a:extLst>
          </p:cNvPr>
          <p:cNvSpPr/>
          <p:nvPr userDrawn="1"/>
        </p:nvSpPr>
        <p:spPr>
          <a:xfrm>
            <a:off x="11819106" y="1"/>
            <a:ext cx="372894" cy="571500"/>
          </a:xfrm>
          <a:prstGeom prst="roundRect">
            <a:avLst>
              <a:gd name="adj" fmla="val 0"/>
            </a:avLst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75DA04-1F5E-BD7B-62F7-97734DFC3AB0}"/>
              </a:ext>
            </a:extLst>
          </p:cNvPr>
          <p:cNvSpPr/>
          <p:nvPr userDrawn="1"/>
        </p:nvSpPr>
        <p:spPr>
          <a:xfrm>
            <a:off x="-1" y="1"/>
            <a:ext cx="9105089" cy="571500"/>
          </a:xfrm>
          <a:prstGeom prst="roundRect">
            <a:avLst>
              <a:gd name="adj" fmla="val 0"/>
            </a:avLst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65CEE-5AE4-B207-4CB6-BCEDACC59A2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382" y="54933"/>
            <a:ext cx="1575883" cy="51254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3D1C99F-0F6A-6C9D-6D08-6333F4890EFE}"/>
              </a:ext>
            </a:extLst>
          </p:cNvPr>
          <p:cNvGrpSpPr/>
          <p:nvPr userDrawn="1"/>
        </p:nvGrpSpPr>
        <p:grpSpPr>
          <a:xfrm>
            <a:off x="0" y="6657974"/>
            <a:ext cx="12192000" cy="216961"/>
            <a:chOff x="0" y="6657974"/>
            <a:chExt cx="12192000" cy="216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B063277-98E8-D02C-0E85-E7F7C3BD9C74}"/>
                </a:ext>
              </a:extLst>
            </p:cNvPr>
            <p:cNvSpPr/>
            <p:nvPr/>
          </p:nvSpPr>
          <p:spPr>
            <a:xfrm>
              <a:off x="0" y="6802583"/>
              <a:ext cx="12192000" cy="72352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A7B43D3-AD84-5632-4727-9AD3A9F1FE93}"/>
                </a:ext>
              </a:extLst>
            </p:cNvPr>
            <p:cNvSpPr/>
            <p:nvPr/>
          </p:nvSpPr>
          <p:spPr>
            <a:xfrm>
              <a:off x="0" y="6657974"/>
              <a:ext cx="12192000" cy="147227"/>
            </a:xfrm>
            <a:prstGeom prst="rect">
              <a:avLst/>
            </a:prstGeom>
            <a:solidFill>
              <a:srgbClr val="FFD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920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sv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image" Target="../media/image6.png"/><Relationship Id="rId10" Type="http://schemas.openxmlformats.org/officeDocument/2006/relationships/image" Target="../media/image26.jpg"/><Relationship Id="rId11" Type="http://schemas.openxmlformats.org/officeDocument/2006/relationships/hyperlink" Target="https://manikandan-5027.github.io/IIC-Traffic-AI-2/" TargetMode="External"/><Relationship Id="rId12" Type="http://schemas.openxmlformats.org/officeDocument/2006/relationships/hyperlink" Target="https://github.com/MANIKANDAN-5027/IIC-Traffic-AI-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nikandan-5027.github.io/IIC-Traffic-AI-2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hyperlink" Target="https://manikandan-5027.github.io/IIC-Traffic-AI-2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manikandan-5027.github.io/IIC-Traffic-AI-2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anikandan-5027.github.io/IIC-Traffic-AI-2/" TargetMode="External"/><Relationship Id="rId4" Type="http://schemas.openxmlformats.org/officeDocument/2006/relationships/hyperlink" Target="https://github.com/MANIKANDAN-5027/IIC-Traffic-AI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09182-3DA8-A994-0243-BAD37D86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0BAE3FC-1151-BD89-6A32-581A58B87A80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DA520-8F34-9EF8-11C2-E127D1DB8D2C}"/>
              </a:ext>
            </a:extLst>
          </p:cNvPr>
          <p:cNvSpPr txBox="1"/>
          <p:nvPr/>
        </p:nvSpPr>
        <p:spPr>
          <a:xfrm>
            <a:off x="0" y="-250913"/>
            <a:ext cx="12192000" cy="7108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62" name="Freeform 2">
            <a:extLst>
              <a:ext uri="{FF2B5EF4-FFF2-40B4-BE49-F238E27FC236}">
                <a16:creationId xmlns:a16="http://schemas.microsoft.com/office/drawing/2014/main" id="{D0939143-6626-B34F-14BB-8DCBA35C62A9}"/>
              </a:ext>
            </a:extLst>
          </p:cNvPr>
          <p:cNvSpPr/>
          <p:nvPr/>
        </p:nvSpPr>
        <p:spPr>
          <a:xfrm>
            <a:off x="0" y="-1"/>
            <a:ext cx="6648450" cy="6972301"/>
          </a:xfrm>
          <a:custGeom>
            <a:avLst/>
            <a:gdLst/>
            <a:ahLst/>
            <a:cxnLst/>
            <a:rect l="l" t="t" r="r" b="b"/>
            <a:pathLst>
              <a:path w="8150888" h="8165735">
                <a:moveTo>
                  <a:pt x="0" y="0"/>
                </a:moveTo>
                <a:lnTo>
                  <a:pt x="8150888" y="0"/>
                </a:lnTo>
                <a:lnTo>
                  <a:pt x="8150888" y="8165735"/>
                </a:lnTo>
                <a:lnTo>
                  <a:pt x="0" y="8165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-49823" t="-22922" r="-1" b="-20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3FEF162-DE07-B153-3D05-04A70F9B7B35}"/>
              </a:ext>
            </a:extLst>
          </p:cNvPr>
          <p:cNvSpPr/>
          <p:nvPr/>
        </p:nvSpPr>
        <p:spPr>
          <a:xfrm>
            <a:off x="641684" y="640538"/>
            <a:ext cx="11012905" cy="5816005"/>
          </a:xfrm>
          <a:prstGeom prst="roundRect">
            <a:avLst>
              <a:gd name="adj" fmla="val 7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13078CE-1BA1-5470-2C9D-23B1943171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942" y="1241814"/>
            <a:ext cx="1945080" cy="632624"/>
          </a:xfrm>
          <a:prstGeom prst="rect">
            <a:avLst/>
          </a:prstGeom>
        </p:spPr>
      </p:pic>
      <p:sp>
        <p:nvSpPr>
          <p:cNvPr id="72" name="TextBox 11">
            <a:extLst>
              <a:ext uri="{FF2B5EF4-FFF2-40B4-BE49-F238E27FC236}">
                <a16:creationId xmlns:a16="http://schemas.microsoft.com/office/drawing/2014/main" id="{413EB221-FE9D-821E-C362-0859073F24A0}"/>
              </a:ext>
            </a:extLst>
          </p:cNvPr>
          <p:cNvSpPr txBox="1"/>
          <p:nvPr/>
        </p:nvSpPr>
        <p:spPr>
          <a:xfrm>
            <a:off x="1169765" y="3150000"/>
            <a:ext cx="4363529" cy="1169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Team Lead Name</a:t>
            </a:r>
          </a:p>
          <a:p>
            <a:r>
              <a:rPr lang="en-US" sz="1600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Rakesh Kumar S</a:t>
            </a:r>
            <a:endParaRPr lang="en-US" sz="1600" b="0" i="0" u="none" dirty="0">
              <a:solidFill>
                <a:srgbClr val="20326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800" b="0" i="0" u="none" dirty="0">
              <a:solidFill>
                <a:srgbClr val="20326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Team Members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Manikandan S</a:t>
            </a:r>
            <a:endParaRPr lang="en-US" sz="1600" b="0" i="0" u="none" dirty="0">
              <a:solidFill>
                <a:srgbClr val="20326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3" name="TextBox 12">
            <a:extLst>
              <a:ext uri="{FF2B5EF4-FFF2-40B4-BE49-F238E27FC236}">
                <a16:creationId xmlns:a16="http://schemas.microsoft.com/office/drawing/2014/main" id="{EB3E80FC-3316-BC6C-6FDE-F2B28FAD282B}"/>
              </a:ext>
            </a:extLst>
          </p:cNvPr>
          <p:cNvSpPr txBox="1"/>
          <p:nvPr/>
        </p:nvSpPr>
        <p:spPr>
          <a:xfrm>
            <a:off x="1060941" y="5501257"/>
            <a:ext cx="614089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Mentor : </a:t>
            </a:r>
            <a:r>
              <a:rPr lang="en-US" sz="1600" b="1" dirty="0">
                <a:solidFill>
                  <a:srgbClr val="203263"/>
                </a:solidFill>
                <a:latin typeface="Times New Roman"/>
                <a:ea typeface="Open Sans Semibold"/>
                <a:cs typeface="Times New Roman"/>
              </a:rPr>
              <a:t>SANTHOSH P</a:t>
            </a:r>
            <a:endParaRPr lang="en-US" sz="1600" b="1" i="0" u="none" dirty="0">
              <a:solidFill>
                <a:srgbClr val="20326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College Name – University College of Engineering Villupuram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78BA191-130D-770C-87F6-905033D32DA6}"/>
              </a:ext>
            </a:extLst>
          </p:cNvPr>
          <p:cNvCxnSpPr>
            <a:cxnSpLocks/>
          </p:cNvCxnSpPr>
          <p:nvPr/>
        </p:nvCxnSpPr>
        <p:spPr>
          <a:xfrm>
            <a:off x="1038704" y="5187255"/>
            <a:ext cx="3981450" cy="0"/>
          </a:xfrm>
          <a:prstGeom prst="line">
            <a:avLst/>
          </a:prstGeom>
          <a:ln w="6350">
            <a:solidFill>
              <a:srgbClr val="2032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7EA5EE7F-3874-18F5-AF1A-4E8D00A8A28C}"/>
              </a:ext>
            </a:extLst>
          </p:cNvPr>
          <p:cNvSpPr/>
          <p:nvPr/>
        </p:nvSpPr>
        <p:spPr>
          <a:xfrm rot="5400000">
            <a:off x="3314495" y="-1034939"/>
            <a:ext cx="197544" cy="333216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D159E21-5CD8-7E52-4DE4-711974E72E68}"/>
              </a:ext>
            </a:extLst>
          </p:cNvPr>
          <p:cNvGrpSpPr/>
          <p:nvPr/>
        </p:nvGrpSpPr>
        <p:grpSpPr>
          <a:xfrm>
            <a:off x="7474168" y="475759"/>
            <a:ext cx="5191859" cy="6858000"/>
            <a:chOff x="6842415" y="89416"/>
            <a:chExt cx="5217433" cy="6858000"/>
          </a:xfrm>
        </p:grpSpPr>
        <p:sp>
          <p:nvSpPr>
            <p:cNvPr id="48" name="Freeform 4">
              <a:extLst>
                <a:ext uri="{FF2B5EF4-FFF2-40B4-BE49-F238E27FC236}">
                  <a16:creationId xmlns:a16="http://schemas.microsoft.com/office/drawing/2014/main" id="{FFD0B593-DE7A-53D8-0BE5-91CD86208CB1}"/>
                </a:ext>
              </a:extLst>
            </p:cNvPr>
            <p:cNvSpPr/>
            <p:nvPr/>
          </p:nvSpPr>
          <p:spPr>
            <a:xfrm>
              <a:off x="9866433" y="89416"/>
              <a:ext cx="2193415" cy="6858000"/>
            </a:xfrm>
            <a:custGeom>
              <a:avLst/>
              <a:gdLst/>
              <a:ahLst/>
              <a:cxnLst/>
              <a:rect l="l" t="t" r="r" b="b"/>
              <a:pathLst>
                <a:path w="4386830" h="9179069">
                  <a:moveTo>
                    <a:pt x="0" y="0"/>
                  </a:moveTo>
                  <a:lnTo>
                    <a:pt x="4386830" y="0"/>
                  </a:lnTo>
                  <a:lnTo>
                    <a:pt x="4386830" y="9179069"/>
                  </a:lnTo>
                  <a:lnTo>
                    <a:pt x="0" y="9179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9994" r="-100000" b="-138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4293BBD-02B5-4874-0631-6B47E5DB9E05}"/>
                </a:ext>
              </a:extLst>
            </p:cNvPr>
            <p:cNvSpPr/>
            <p:nvPr/>
          </p:nvSpPr>
          <p:spPr>
            <a:xfrm>
              <a:off x="10932885" y="3282950"/>
              <a:ext cx="161925" cy="2771775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609490D-ABC0-C09D-D03D-244E88709499}"/>
                </a:ext>
              </a:extLst>
            </p:cNvPr>
            <p:cNvSpPr/>
            <p:nvPr/>
          </p:nvSpPr>
          <p:spPr>
            <a:xfrm rot="5400000">
              <a:off x="9436100" y="4464051"/>
              <a:ext cx="152400" cy="3133725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B70F9B1-4938-0653-DDF0-7B30F36B2EF8}"/>
                </a:ext>
              </a:extLst>
            </p:cNvPr>
            <p:cNvSpPr txBox="1"/>
            <p:nvPr/>
          </p:nvSpPr>
          <p:spPr>
            <a:xfrm>
              <a:off x="9976139" y="3333750"/>
              <a:ext cx="456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62E9947-DB1D-BFEF-4B4B-B83BB8C42DE4}"/>
                </a:ext>
              </a:extLst>
            </p:cNvPr>
            <p:cNvSpPr txBox="1"/>
            <p:nvPr/>
          </p:nvSpPr>
          <p:spPr>
            <a:xfrm>
              <a:off x="9290339" y="4595815"/>
              <a:ext cx="456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0DA596D-B81B-6101-DACC-0F35E4F2DAE6}"/>
                </a:ext>
              </a:extLst>
            </p:cNvPr>
            <p:cNvSpPr txBox="1"/>
            <p:nvPr/>
          </p:nvSpPr>
          <p:spPr>
            <a:xfrm>
              <a:off x="10528591" y="4567242"/>
              <a:ext cx="30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A3659A8-8ADD-4E36-FFA0-20D118405D2A}"/>
                </a:ext>
              </a:extLst>
            </p:cNvPr>
            <p:cNvSpPr txBox="1"/>
            <p:nvPr/>
          </p:nvSpPr>
          <p:spPr>
            <a:xfrm>
              <a:off x="8775991" y="3609980"/>
              <a:ext cx="30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8E264A8-B019-4969-3A85-D5C8FF6AF019}"/>
                </a:ext>
              </a:extLst>
            </p:cNvPr>
            <p:cNvSpPr txBox="1"/>
            <p:nvPr/>
          </p:nvSpPr>
          <p:spPr>
            <a:xfrm>
              <a:off x="9518941" y="2828929"/>
              <a:ext cx="3060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F42F0E7-E60C-E7CE-DA73-19F9737E1060}"/>
                </a:ext>
              </a:extLst>
            </p:cNvPr>
            <p:cNvSpPr txBox="1"/>
            <p:nvPr/>
          </p:nvSpPr>
          <p:spPr>
            <a:xfrm>
              <a:off x="8233065" y="275749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33B4C38-9BF6-0132-B889-102D1D84DDC4}"/>
                </a:ext>
              </a:extLst>
            </p:cNvPr>
            <p:cNvSpPr txBox="1"/>
            <p:nvPr/>
          </p:nvSpPr>
          <p:spPr>
            <a:xfrm>
              <a:off x="7671090" y="2776545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C99D557-D7AE-1E40-9E27-86852E7FF2C5}"/>
                </a:ext>
              </a:extLst>
            </p:cNvPr>
            <p:cNvSpPr txBox="1"/>
            <p:nvPr/>
          </p:nvSpPr>
          <p:spPr>
            <a:xfrm>
              <a:off x="6842415" y="324433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F226516-532D-73A5-A4DD-BF364F1395B6}"/>
                </a:ext>
              </a:extLst>
            </p:cNvPr>
            <p:cNvSpPr txBox="1"/>
            <p:nvPr/>
          </p:nvSpPr>
          <p:spPr>
            <a:xfrm>
              <a:off x="7532978" y="238708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78EF67B-7429-F6F9-3452-36A9B7EEBC29}"/>
                </a:ext>
              </a:extLst>
            </p:cNvPr>
            <p:cNvSpPr txBox="1"/>
            <p:nvPr/>
          </p:nvSpPr>
          <p:spPr>
            <a:xfrm>
              <a:off x="8642642" y="4706421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259031C-2697-8997-5EB6-C88A733EC3F2}"/>
                </a:ext>
              </a:extLst>
            </p:cNvPr>
            <p:cNvSpPr txBox="1"/>
            <p:nvPr/>
          </p:nvSpPr>
          <p:spPr>
            <a:xfrm>
              <a:off x="9894859" y="5362895"/>
              <a:ext cx="4563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</p:grpSp>
      <p:sp>
        <p:nvSpPr>
          <p:cNvPr id="96" name="Freeform 15">
            <a:extLst>
              <a:ext uri="{FF2B5EF4-FFF2-40B4-BE49-F238E27FC236}">
                <a16:creationId xmlns:a16="http://schemas.microsoft.com/office/drawing/2014/main" id="{1C7C2BDE-1D07-FE88-AD1D-9F8BFFA227F4}"/>
              </a:ext>
            </a:extLst>
          </p:cNvPr>
          <p:cNvSpPr/>
          <p:nvPr/>
        </p:nvSpPr>
        <p:spPr>
          <a:xfrm>
            <a:off x="1656846" y="347936"/>
            <a:ext cx="3390899" cy="593408"/>
          </a:xfrm>
          <a:custGeom>
            <a:avLst/>
            <a:gdLst/>
            <a:ahLst/>
            <a:cxnLst/>
            <a:rect l="l" t="t" r="r" b="b"/>
            <a:pathLst>
              <a:path w="16230600" h="2840355">
                <a:moveTo>
                  <a:pt x="0" y="0"/>
                </a:moveTo>
                <a:lnTo>
                  <a:pt x="16230600" y="0"/>
                </a:lnTo>
                <a:lnTo>
                  <a:pt x="16230600" y="2840355"/>
                </a:lnTo>
                <a:lnTo>
                  <a:pt x="0" y="2840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FA17BF81-B928-7F80-A4A9-6E8F787B9040}"/>
              </a:ext>
            </a:extLst>
          </p:cNvPr>
          <p:cNvSpPr txBox="1"/>
          <p:nvPr/>
        </p:nvSpPr>
        <p:spPr>
          <a:xfrm>
            <a:off x="1372177" y="1990000"/>
            <a:ext cx="418961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 i="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IIC TRAFFIC AI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AI-Based Traffic Congestion Prediction and Intelligent Route Optimization System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C9D6B20E-668A-11D2-5D28-79A749C7617C}"/>
              </a:ext>
            </a:extLst>
          </p:cNvPr>
          <p:cNvSpPr/>
          <p:nvPr/>
        </p:nvSpPr>
        <p:spPr>
          <a:xfrm>
            <a:off x="5045498" y="755698"/>
            <a:ext cx="6504818" cy="5987142"/>
          </a:xfrm>
          <a:custGeom>
            <a:avLst/>
            <a:gdLst/>
            <a:ahLst/>
            <a:cxnLst/>
            <a:rect l="l" t="t" r="r" b="b"/>
            <a:pathLst>
              <a:path w="8283781" h="7624530">
                <a:moveTo>
                  <a:pt x="0" y="0"/>
                </a:moveTo>
                <a:lnTo>
                  <a:pt x="8283781" y="0"/>
                </a:lnTo>
                <a:lnTo>
                  <a:pt x="8283781" y="7624530"/>
                </a:lnTo>
                <a:lnTo>
                  <a:pt x="0" y="7624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7" name="Picture 96" descr="smart_city_ai_traffic_cover_179300541048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5128" y="1356300"/>
            <a:ext cx="6264612" cy="4698459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1038704" y="6050000"/>
            <a:ext cx="4600000" cy="62000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60000" bIns="60000"/>
          <a:lstStyle/>
          <a:p>
            <a:pPr algn="l"/>
            <a:r>
              <a:rPr sz="1050" b="1">
                <a:solidFill>
                  <a:srgbClr val="1E293B"/>
                </a:solidFill>
              </a:rPr>
              <a:t>🌐 Live Demo: </a:t>
            </a:r>
            <a:r>
              <a:rPr sz="1050" b="1" u="sng">
                <a:solidFill>
                  <a:srgbClr val="2563EB"/>
                </a:solidFill>
                <a:hlinkClick r:id="rId11"/>
              </a:rPr>
              <a:t>manikandan-5027.github.io/IIC-Traffic-AI-2/</a:t>
            </a:r>
          </a:p>
          <a:p>
            <a:pPr algn="l"/>
            <a:r>
              <a:rPr sz="1050" b="1">
                <a:solidFill>
                  <a:srgbClr val="1E293B"/>
                </a:solidFill>
              </a:rPr>
              <a:t>💻 GitHub: </a:t>
            </a:r>
            <a:r>
              <a:rPr sz="1050" b="1" u="sng">
                <a:solidFill>
                  <a:srgbClr val="2563EB"/>
                </a:solidFill>
                <a:hlinkClick r:id="rId12"/>
              </a:rPr>
              <a:t>github.com/MANIKANDAN-5027/IIC-Traffic-AI-2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36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30748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Project Objectives</a:t>
            </a:r>
          </a:p>
        </p:txBody>
      </p:sp>
      <p:sp>
        <p:nvSpPr>
          <p:cNvPr id="102" name="Content Card"/>
          <p:cNvSpPr/>
          <p:nvPr/>
        </p:nvSpPr>
        <p:spPr>
          <a:xfrm>
            <a:off x="457200" y="114300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103" name="Number 1"/>
          <p:cNvSpPr/>
          <p:nvPr/>
        </p:nvSpPr>
        <p:spPr>
          <a:xfrm>
            <a:off x="64008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04" name="Content Card"/>
          <p:cNvSpPr/>
          <p:nvPr/>
        </p:nvSpPr>
        <p:spPr>
          <a:xfrm>
            <a:off x="4307840" y="1132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Project Overview – Introduction</a:t>
            </a:r>
          </a:p>
        </p:txBody>
      </p:sp>
      <p:sp>
        <p:nvSpPr>
          <p:cNvPr id="105" name="Number 2"/>
          <p:cNvSpPr/>
          <p:nvPr/>
        </p:nvSpPr>
        <p:spPr>
          <a:xfrm>
            <a:off x="449072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06" name="Content Card"/>
          <p:cNvSpPr/>
          <p:nvPr/>
        </p:nvSpPr>
        <p:spPr>
          <a:xfrm>
            <a:off x="8158480" y="1143000"/>
            <a:ext cx="3576320" cy="1371600"/>
          </a:xfrm>
          <a:prstGeom prst="roundRect">
            <a:avLst>
              <a:gd name="adj" fmla="val 16667"/>
            </a:avLst>
          </a:prstGeom>
          <a:solidFill>
            <a:srgbClr val="FEF5CA"/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End Users</a:t>
            </a:r>
          </a:p>
        </p:txBody>
      </p:sp>
      <p:sp>
        <p:nvSpPr>
          <p:cNvPr id="107" name="Number 3"/>
          <p:cNvSpPr/>
          <p:nvPr/>
        </p:nvSpPr>
        <p:spPr>
          <a:xfrm>
            <a:off x="834136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8" name="Content Card"/>
          <p:cNvSpPr/>
          <p:nvPr/>
        </p:nvSpPr>
        <p:spPr>
          <a:xfrm>
            <a:off x="45720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Wow Factors in Project</a:t>
            </a:r>
          </a:p>
        </p:txBody>
      </p:sp>
      <p:sp>
        <p:nvSpPr>
          <p:cNvPr id="109" name="Number 4"/>
          <p:cNvSpPr/>
          <p:nvPr/>
        </p:nvSpPr>
        <p:spPr>
          <a:xfrm>
            <a:off x="64008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10" name="Content Card"/>
          <p:cNvSpPr/>
          <p:nvPr/>
        </p:nvSpPr>
        <p:spPr>
          <a:xfrm>
            <a:off x="430784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Modelling / Block Diagram / Flow of Project</a:t>
            </a:r>
          </a:p>
        </p:txBody>
      </p:sp>
      <p:sp>
        <p:nvSpPr>
          <p:cNvPr id="111" name="Number 5"/>
          <p:cNvSpPr/>
          <p:nvPr/>
        </p:nvSpPr>
        <p:spPr>
          <a:xfrm>
            <a:off x="449072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12" name="Content Card"/>
          <p:cNvSpPr/>
          <p:nvPr/>
        </p:nvSpPr>
        <p:spPr>
          <a:xfrm>
            <a:off x="815848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Technology Stack</a:t>
            </a:r>
          </a:p>
        </p:txBody>
      </p:sp>
      <p:sp>
        <p:nvSpPr>
          <p:cNvPr id="113" name="Number 6"/>
          <p:cNvSpPr/>
          <p:nvPr/>
        </p:nvSpPr>
        <p:spPr>
          <a:xfrm>
            <a:off x="834136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114" name="Content Card"/>
          <p:cNvSpPr/>
          <p:nvPr/>
        </p:nvSpPr>
        <p:spPr>
          <a:xfrm>
            <a:off x="45720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rgbClr val="FEF5CA"/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Result / Outcomes</a:t>
            </a:r>
          </a:p>
        </p:txBody>
      </p:sp>
      <p:sp>
        <p:nvSpPr>
          <p:cNvPr id="115" name="Number 7"/>
          <p:cNvSpPr/>
          <p:nvPr/>
        </p:nvSpPr>
        <p:spPr>
          <a:xfrm>
            <a:off x="64008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116" name="Content Card"/>
          <p:cNvSpPr/>
          <p:nvPr/>
        </p:nvSpPr>
        <p:spPr>
          <a:xfrm>
            <a:off x="430784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17" name="Number 8"/>
          <p:cNvSpPr/>
          <p:nvPr/>
        </p:nvSpPr>
        <p:spPr>
          <a:xfrm>
            <a:off x="449072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118" name="Content Card"/>
          <p:cNvSpPr/>
          <p:nvPr/>
        </p:nvSpPr>
        <p:spPr>
          <a:xfrm>
            <a:off x="815848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b="1">
                <a:solidFill>
                  <a:srgbClr val="203263"/>
                </a:solidFill>
                <a:latin typeface="Times New Roman"/>
                <a:cs typeface="Times New Roman"/>
              </a:rPr>
              <a:t>Future Perspective</a:t>
            </a:r>
          </a:p>
        </p:txBody>
      </p:sp>
      <p:sp>
        <p:nvSpPr>
          <p:cNvPr id="119" name="Number 9"/>
          <p:cNvSpPr/>
          <p:nvPr/>
        </p:nvSpPr>
        <p:spPr>
          <a:xfrm>
            <a:off x="834136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"/>
          <p:cNvSpPr txBox="1"/>
          <p:nvPr/>
        </p:nvSpPr>
        <p:spPr>
          <a:xfrm>
            <a:off x="160145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121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E1DF4-EA90-40D8-4EBE-1DB089A083D9}"/>
              </a:ext>
            </a:extLst>
          </p:cNvPr>
          <p:cNvSpPr txBox="1"/>
          <p:nvPr/>
        </p:nvSpPr>
        <p:spPr>
          <a:xfrm>
            <a:off x="1022759" y="1604674"/>
            <a:ext cx="6207092" cy="3015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378C9-C078-28C7-4C75-2C9E776A9D49}"/>
              </a:ext>
            </a:extLst>
          </p:cNvPr>
          <p:cNvSpPr txBox="1"/>
          <p:nvPr/>
        </p:nvSpPr>
        <p:spPr>
          <a:xfrm>
            <a:off x="690114" y="5082396"/>
            <a:ext cx="10811770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8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Project Goal</a:t>
            </a:r>
            <a:r>
              <a:rPr lang="en-US"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Turn available CSV traffic data into understandable predictions, route comparisons and map-based decisions.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94827B-8D58-D5FB-09EF-AF3F56A66555}"/>
              </a:ext>
            </a:extLst>
          </p:cNvPr>
          <p:cNvSpPr/>
          <p:nvPr/>
        </p:nvSpPr>
        <p:spPr>
          <a:xfrm>
            <a:off x="1024301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591A3-CCC9-FCBA-E18F-4078E8439E31}"/>
              </a:ext>
            </a:extLst>
          </p:cNvPr>
          <p:cNvSpPr txBox="1"/>
          <p:nvPr/>
        </p:nvSpPr>
        <p:spPr>
          <a:xfrm>
            <a:off x="1174301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Traffic Uncertainty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Congestion changes by place and time.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Manual route choice may waste time.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Small roads and villages may be overlooked.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247CC0-E9F8-1605-4D8C-14E62F7157B6}"/>
              </a:ext>
            </a:extLst>
          </p:cNvPr>
          <p:cNvSpPr/>
          <p:nvPr/>
        </p:nvSpPr>
        <p:spPr>
          <a:xfrm>
            <a:off x="4661772" y="1317587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 u="sng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004A45-5931-955B-015A-B30082E86A62}"/>
              </a:ext>
            </a:extLst>
          </p:cNvPr>
          <p:cNvSpPr/>
          <p:nvPr/>
        </p:nvSpPr>
        <p:spPr>
          <a:xfrm>
            <a:off x="8342376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91639D-B593-8CDC-3437-33387DEEE84B}"/>
              </a:ext>
            </a:extLst>
          </p:cNvPr>
          <p:cNvSpPr txBox="1"/>
          <p:nvPr/>
        </p:nvSpPr>
        <p:spPr>
          <a:xfrm>
            <a:off x="4811772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Scattered Data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CSV files contain traffic and location records.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Manual comparison is time-consuming.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Traffic values need clear presentation.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0C5579-7108-4FC3-0754-BC1A45466868}"/>
              </a:ext>
            </a:extLst>
          </p:cNvPr>
          <p:cNvSpPr txBox="1"/>
          <p:nvPr/>
        </p:nvSpPr>
        <p:spPr>
          <a:xfrm>
            <a:off x="8492376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Route Decisions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Different vehicle types need suitable routes.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Toll costs and pollution affect decisions.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Users need clear route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 txBox="1"/>
          <p:nvPr/>
        </p:nvSpPr>
        <p:spPr>
          <a:xfrm>
            <a:off x="145767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Project Overview - Introduction</a:t>
            </a:r>
          </a:p>
        </p:txBody>
      </p:sp>
      <p:sp>
        <p:nvSpPr>
          <p:cNvPr id="123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A2868B1-DC2A-6E7B-F68A-05AF025EC25B}"/>
              </a:ext>
            </a:extLst>
          </p:cNvPr>
          <p:cNvSpPr/>
          <p:nvPr/>
        </p:nvSpPr>
        <p:spPr>
          <a:xfrm>
            <a:off x="935090" y="1077333"/>
            <a:ext cx="5497782" cy="120834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67842F-5479-992E-FE87-3CC6BF0B5B17}"/>
              </a:ext>
            </a:extLst>
          </p:cNvPr>
          <p:cNvSpPr txBox="1"/>
          <p:nvPr/>
        </p:nvSpPr>
        <p:spPr>
          <a:xfrm>
            <a:off x="1087279" y="1185965"/>
            <a:ext cx="535789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IIC Traffic AI is a web dashboard for traffic analysis and route guidance. It turns CSV traffic data into predictions, route comparisons and map-based decisions.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421E28-99BD-BC82-DD07-1CC63EC541D5}"/>
              </a:ext>
            </a:extLst>
          </p:cNvPr>
          <p:cNvSpPr/>
          <p:nvPr/>
        </p:nvSpPr>
        <p:spPr>
          <a:xfrm>
            <a:off x="1081687" y="2599743"/>
            <a:ext cx="5010020" cy="34884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B682F4-3544-EA7D-6F28-62DFAABB6D07}"/>
              </a:ext>
            </a:extLst>
          </p:cNvPr>
          <p:cNvSpPr/>
          <p:nvPr/>
        </p:nvSpPr>
        <p:spPr>
          <a:xfrm>
            <a:off x="1081686" y="3159290"/>
            <a:ext cx="5010020" cy="3285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5E538F-CE6E-6F74-C98D-8CF3C3D7051F}"/>
              </a:ext>
            </a:extLst>
          </p:cNvPr>
          <p:cNvSpPr/>
          <p:nvPr/>
        </p:nvSpPr>
        <p:spPr>
          <a:xfrm>
            <a:off x="1091845" y="3636510"/>
            <a:ext cx="5020180" cy="3285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0451D-2EBB-8750-08A1-6030CF35B01C}"/>
              </a:ext>
            </a:extLst>
          </p:cNvPr>
          <p:cNvSpPr txBox="1"/>
          <p:nvPr/>
        </p:nvSpPr>
        <p:spPr>
          <a:xfrm>
            <a:off x="1200706" y="2608430"/>
            <a:ext cx="484422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Display current and future traffic outputs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4DEA1-BEE0-8D80-40C5-B205E65E9766}"/>
              </a:ext>
            </a:extLst>
          </p:cNvPr>
          <p:cNvSpPr txBox="1"/>
          <p:nvPr/>
        </p:nvSpPr>
        <p:spPr>
          <a:xfrm>
            <a:off x="1202233" y="3162770"/>
            <a:ext cx="4920163" cy="6217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Analyse congestion and what-if scenarios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FE32E7-542B-9A4F-6F51-AA5C064B6FF2}"/>
              </a:ext>
            </a:extLst>
          </p:cNvPr>
          <p:cNvSpPr txBox="1"/>
          <p:nvPr/>
        </p:nvSpPr>
        <p:spPr>
          <a:xfrm>
            <a:off x="1205111" y="3637767"/>
            <a:ext cx="51386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Search district, taluk, village and locations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D1D07B-1D4B-D35E-C8B9-35594BB7D005}"/>
              </a:ext>
            </a:extLst>
          </p:cNvPr>
          <p:cNvSpPr/>
          <p:nvPr/>
        </p:nvSpPr>
        <p:spPr>
          <a:xfrm>
            <a:off x="1081685" y="4124190"/>
            <a:ext cx="5020180" cy="3285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8E1BB3-6A75-3C92-0657-B01515B18583}"/>
              </a:ext>
            </a:extLst>
          </p:cNvPr>
          <p:cNvSpPr/>
          <p:nvPr/>
        </p:nvSpPr>
        <p:spPr>
          <a:xfrm>
            <a:off x="1071525" y="4591550"/>
            <a:ext cx="5020180" cy="3285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00D6E-E681-2CE8-2FF9-723C8B672279}"/>
              </a:ext>
            </a:extLst>
          </p:cNvPr>
          <p:cNvSpPr txBox="1"/>
          <p:nvPr/>
        </p:nvSpPr>
        <p:spPr>
          <a:xfrm>
            <a:off x="1204347" y="4127329"/>
            <a:ext cx="52527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Compare available alternative routes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90FF2C-2C2A-3A79-86EC-DB6AE701669B}"/>
              </a:ext>
            </a:extLst>
          </p:cNvPr>
          <p:cNvSpPr txBox="1"/>
          <p:nvPr/>
        </p:nvSpPr>
        <p:spPr>
          <a:xfrm>
            <a:off x="1204347" y="4590051"/>
            <a:ext cx="51118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Add Bike, Car and Heavy Vehicle categories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FCDA16-D5AC-957C-6F38-EDBA4B75AB74}"/>
              </a:ext>
            </a:extLst>
          </p:cNvPr>
          <p:cNvSpPr/>
          <p:nvPr/>
        </p:nvSpPr>
        <p:spPr>
          <a:xfrm>
            <a:off x="1071526" y="5079529"/>
            <a:ext cx="5010020" cy="3285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EAD172-51E8-A0C2-C6E3-84C25572BB0B}"/>
              </a:ext>
            </a:extLst>
          </p:cNvPr>
          <p:cNvSpPr txBox="1"/>
          <p:nvPr/>
        </p:nvSpPr>
        <p:spPr>
          <a:xfrm>
            <a:off x="1204347" y="5086131"/>
            <a:ext cx="49195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Show toll / pollution only when data is supported</a:t>
            </a:r>
          </a:p>
        </p:txBody>
      </p:sp>
      <p:sp>
        <p:nvSpPr>
          <p:cNvPr id="125" name="Flow INPUT"/>
          <p:cNvSpPr/>
          <p:nvPr/>
        </p:nvSpPr>
        <p:spPr>
          <a:xfrm>
            <a:off x="6900000" y="1250000"/>
            <a:ext cx="4350000" cy="1330000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 w="19050">
            <a:solidFill>
              <a:srgbClr val="FFFFFF"/>
            </a:solidFill>
          </a:ln>
        </p:spPr>
        <p:txBody>
          <a:bodyPr wrap="square" lIns="120000" tIns="60000" rIns="120000" bIns="6000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i="0" u="none" dirty="0">
                <a:solidFill>
                  <a:srgbClr val="FFD700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Traffic data • Future prediction • Route optimisation • Location CSVs</a:t>
            </a:r>
          </a:p>
        </p:txBody>
      </p:sp>
      <p:sp>
        <p:nvSpPr>
          <p:cNvPr id="126" name="Flow arrow 1"/>
          <p:cNvSpPr/>
          <p:nvPr/>
        </p:nvSpPr>
        <p:spPr>
          <a:xfrm>
            <a:off x="8885000" y="2620000"/>
            <a:ext cx="380000" cy="250000"/>
          </a:xfrm>
          <a:prstGeom prst="downArrow">
            <a:avLst/>
          </a:prstGeom>
          <a:solidFill>
            <a:srgbClr val="FFD700"/>
          </a:solidFill>
          <a:ln>
            <a:noFill/>
          </a:ln>
        </p:spPr>
        <p:txBody>
          <a:bodyPr wrap="square" lIns="91440" tIns="45720" rIns="91440" bIns="45720" rtlCol="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27" name="Flow PROCESS"/>
          <p:cNvSpPr/>
          <p:nvPr/>
        </p:nvSpPr>
        <p:spPr>
          <a:xfrm>
            <a:off x="6900000" y="2910000"/>
            <a:ext cx="4350000" cy="1330000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 w="19050">
            <a:solidFill>
              <a:srgbClr val="FFFFFF"/>
            </a:solidFill>
          </a:ln>
        </p:spPr>
        <p:txBody>
          <a:bodyPr wrap="square" lIns="120000" tIns="60000" rIns="120000" bIns="6000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i="0" u="none" dirty="0">
                <a:solidFill>
                  <a:srgbClr val="FFD700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CSV validation • Traffic scoring • Route comparison • Visualisation</a:t>
            </a:r>
          </a:p>
        </p:txBody>
      </p:sp>
      <p:sp>
        <p:nvSpPr>
          <p:cNvPr id="128" name="Flow arrow 2"/>
          <p:cNvSpPr/>
          <p:nvPr/>
        </p:nvSpPr>
        <p:spPr>
          <a:xfrm>
            <a:off x="8885000" y="4280000"/>
            <a:ext cx="380000" cy="250000"/>
          </a:xfrm>
          <a:prstGeom prst="downArrow">
            <a:avLst/>
          </a:prstGeom>
          <a:solidFill>
            <a:srgbClr val="FFD700"/>
          </a:solidFill>
          <a:ln>
            <a:noFill/>
          </a:ln>
        </p:spPr>
        <p:txBody>
          <a:bodyPr wrap="square" lIns="91440" tIns="45720" rIns="91440" bIns="45720" rtlCol="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29" name="Flow OUTPUT"/>
          <p:cNvSpPr/>
          <p:nvPr/>
        </p:nvSpPr>
        <p:spPr>
          <a:xfrm>
            <a:off x="6900000" y="4570000"/>
            <a:ext cx="4350000" cy="1330000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 w="19050">
            <a:solidFill>
              <a:srgbClr val="FFFFFF"/>
            </a:solidFill>
          </a:ln>
        </p:spPr>
        <p:txBody>
          <a:bodyPr wrap="square" lIns="120000" tIns="60000" rIns="120000" bIns="6000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i="0" u="none" dirty="0">
                <a:solidFill>
                  <a:srgbClr val="FFD700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Dashboard • Map routes • Alerts • Analytics • Recommendations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800000" y="60000"/>
            <a:ext cx="3900000" cy="40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338CA"/>
                </a:solidFill>
                <a:hlinkClick r:id="rId2"/>
              </a:rPr>
              <a:t>🔗 Live System: manikandan-5027.github.io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23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"/>
          <p:cNvSpPr txBox="1"/>
          <p:nvPr/>
        </p:nvSpPr>
        <p:spPr>
          <a:xfrm>
            <a:off x="102635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End Users</a:t>
            </a:r>
          </a:p>
        </p:txBody>
      </p:sp>
      <p:sp>
        <p:nvSpPr>
          <p:cNvPr id="125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AE133039-519E-B0B3-47A9-C7EABD98F712}"/>
              </a:ext>
            </a:extLst>
          </p:cNvPr>
          <p:cNvSpPr/>
          <p:nvPr/>
        </p:nvSpPr>
        <p:spPr>
          <a:xfrm>
            <a:off x="796263" y="1153127"/>
            <a:ext cx="2643409" cy="141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CE63711C-AF7A-54E3-6B19-D619E150BFE2}"/>
              </a:ext>
            </a:extLst>
          </p:cNvPr>
          <p:cNvSpPr txBox="1"/>
          <p:nvPr/>
        </p:nvSpPr>
        <p:spPr>
          <a:xfrm>
            <a:off x="927436" y="1383076"/>
            <a:ext cx="2376892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Bike Riders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– Compare travel time and suitable road access.</a:t>
            </a: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AFFBC9DA-C668-88C6-75B5-7477E5457486}"/>
              </a:ext>
            </a:extLst>
          </p:cNvPr>
          <p:cNvSpPr/>
          <p:nvPr/>
        </p:nvSpPr>
        <p:spPr>
          <a:xfrm>
            <a:off x="6101506" y="1857616"/>
            <a:ext cx="2643409" cy="141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6CC068AC-5D23-681A-592D-B88B72835482}"/>
              </a:ext>
            </a:extLst>
          </p:cNvPr>
          <p:cNvSpPr/>
          <p:nvPr/>
        </p:nvSpPr>
        <p:spPr>
          <a:xfrm>
            <a:off x="8746942" y="1153127"/>
            <a:ext cx="2643409" cy="141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06282D33-F800-D0E0-3569-3742CCE5E1E9}"/>
              </a:ext>
            </a:extLst>
          </p:cNvPr>
          <p:cNvSpPr/>
          <p:nvPr/>
        </p:nvSpPr>
        <p:spPr>
          <a:xfrm>
            <a:off x="3441696" y="1857617"/>
            <a:ext cx="2643409" cy="141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ABF91D61-43ED-C3DA-5442-7EC1B94F7927}"/>
              </a:ext>
            </a:extLst>
          </p:cNvPr>
          <p:cNvSpPr txBox="1"/>
          <p:nvPr/>
        </p:nvSpPr>
        <p:spPr>
          <a:xfrm>
            <a:off x="3603771" y="2005034"/>
            <a:ext cx="231929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Car Drivers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– Compare distance, duration, congestion and toll.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C30C7D8C-FDF2-8B23-3945-001507B9E495}"/>
              </a:ext>
            </a:extLst>
          </p:cNvPr>
          <p:cNvSpPr txBox="1"/>
          <p:nvPr/>
        </p:nvSpPr>
        <p:spPr>
          <a:xfrm>
            <a:off x="6345782" y="2136560"/>
            <a:ext cx="215084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Heavy-Vehicle Operators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– Check routes with verified road restrictions.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5D2886DD-A9A0-594E-96CF-D19DB0148ED5}"/>
              </a:ext>
            </a:extLst>
          </p:cNvPr>
          <p:cNvSpPr txBox="1"/>
          <p:nvPr/>
        </p:nvSpPr>
        <p:spPr>
          <a:xfrm>
            <a:off x="8985849" y="1344283"/>
            <a:ext cx="2631057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Traffic Analysts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– Study congestion, alerts and what-if scenarios.</a:t>
            </a:r>
          </a:p>
        </p:txBody>
      </p:sp>
      <p:sp>
        <p:nvSpPr>
          <p:cNvPr id="285" name="User tile 1"/>
          <p:cNvSpPr/>
          <p:nvPr/>
        </p:nvSpPr>
        <p:spPr>
          <a:xfrm>
            <a:off x="1450000" y="3700000"/>
            <a:ext cx="2050000" cy="23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286" name="User icon 1 circle"/>
          <p:cNvSpPr/>
          <p:nvPr/>
        </p:nvSpPr>
        <p:spPr>
          <a:xfrm>
            <a:off x="1925000" y="4050000"/>
            <a:ext cx="1100000" cy="11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287" name="User icon 1" descr="User ico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000" y="4314000"/>
            <a:ext cx="572000" cy="572000"/>
          </a:xfrm>
          <a:prstGeom prst="rect">
            <a:avLst/>
          </a:prstGeom>
        </p:spPr>
      </p:pic>
      <p:sp>
        <p:nvSpPr>
          <p:cNvPr id="288" name="User label 1"/>
          <p:cNvSpPr txBox="1"/>
          <p:nvPr/>
        </p:nvSpPr>
        <p:spPr>
          <a:xfrm>
            <a:off x="1530000" y="5300000"/>
            <a:ext cx="189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Bike Rider</a:t>
            </a:r>
          </a:p>
        </p:txBody>
      </p:sp>
      <p:sp>
        <p:nvSpPr>
          <p:cNvPr id="289" name="User tile 2"/>
          <p:cNvSpPr/>
          <p:nvPr/>
        </p:nvSpPr>
        <p:spPr>
          <a:xfrm>
            <a:off x="3830000" y="3700000"/>
            <a:ext cx="2050000" cy="23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290" name="User icon 2 circle"/>
          <p:cNvSpPr/>
          <p:nvPr/>
        </p:nvSpPr>
        <p:spPr>
          <a:xfrm>
            <a:off x="4305000" y="4050000"/>
            <a:ext cx="1100000" cy="11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291" name="User icon 2" descr="User ic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000" y="4314000"/>
            <a:ext cx="572000" cy="572000"/>
          </a:xfrm>
          <a:prstGeom prst="rect">
            <a:avLst/>
          </a:prstGeom>
        </p:spPr>
      </p:pic>
      <p:sp>
        <p:nvSpPr>
          <p:cNvPr id="292" name="User label 2"/>
          <p:cNvSpPr txBox="1"/>
          <p:nvPr/>
        </p:nvSpPr>
        <p:spPr>
          <a:xfrm>
            <a:off x="3910000" y="5300000"/>
            <a:ext cx="189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Car Driver</a:t>
            </a:r>
          </a:p>
        </p:txBody>
      </p:sp>
      <p:sp>
        <p:nvSpPr>
          <p:cNvPr id="293" name="User tile 3"/>
          <p:cNvSpPr/>
          <p:nvPr/>
        </p:nvSpPr>
        <p:spPr>
          <a:xfrm>
            <a:off x="6210000" y="3700000"/>
            <a:ext cx="2050000" cy="23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294" name="User icon 3 circle"/>
          <p:cNvSpPr/>
          <p:nvPr/>
        </p:nvSpPr>
        <p:spPr>
          <a:xfrm>
            <a:off x="6685000" y="4050000"/>
            <a:ext cx="1100000" cy="11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295" name="User icon 3" descr="User ic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000" y="4314000"/>
            <a:ext cx="572000" cy="572000"/>
          </a:xfrm>
          <a:prstGeom prst="rect">
            <a:avLst/>
          </a:prstGeom>
        </p:spPr>
      </p:pic>
      <p:sp>
        <p:nvSpPr>
          <p:cNvPr id="296" name="User label 3"/>
          <p:cNvSpPr txBox="1"/>
          <p:nvPr/>
        </p:nvSpPr>
        <p:spPr>
          <a:xfrm>
            <a:off x="6290000" y="5300000"/>
            <a:ext cx="189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Heavy-Vehicle Operator</a:t>
            </a:r>
          </a:p>
        </p:txBody>
      </p:sp>
      <p:sp>
        <p:nvSpPr>
          <p:cNvPr id="297" name="User tile 4"/>
          <p:cNvSpPr/>
          <p:nvPr/>
        </p:nvSpPr>
        <p:spPr>
          <a:xfrm>
            <a:off x="8590000" y="3700000"/>
            <a:ext cx="2050000" cy="23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298" name="User icon 4 circle"/>
          <p:cNvSpPr/>
          <p:nvPr/>
        </p:nvSpPr>
        <p:spPr>
          <a:xfrm>
            <a:off x="9065000" y="4050000"/>
            <a:ext cx="1100000" cy="11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299" name="User icon 4" descr="User ic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000" y="4314000"/>
            <a:ext cx="572000" cy="572000"/>
          </a:xfrm>
          <a:prstGeom prst="rect">
            <a:avLst/>
          </a:prstGeom>
        </p:spPr>
      </p:pic>
      <p:sp>
        <p:nvSpPr>
          <p:cNvPr id="300" name="User label 4"/>
          <p:cNvSpPr txBox="1"/>
          <p:nvPr/>
        </p:nvSpPr>
        <p:spPr>
          <a:xfrm>
            <a:off x="8670000" y="5300000"/>
            <a:ext cx="189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Traffic Analyst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"/>
          <p:cNvSpPr txBox="1"/>
          <p:nvPr/>
        </p:nvSpPr>
        <p:spPr>
          <a:xfrm>
            <a:off x="120347" y="141921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Wow Factors in Project</a:t>
            </a:r>
          </a:p>
        </p:txBody>
      </p:sp>
      <p:sp>
        <p:nvSpPr>
          <p:cNvPr id="127" name="Content Card"/>
          <p:cNvSpPr/>
          <p:nvPr/>
        </p:nvSpPr>
        <p:spPr>
          <a:xfrm>
            <a:off x="356558" y="900023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0A21F-07C7-8387-9F5F-783510CCBEB1}"/>
              </a:ext>
            </a:extLst>
          </p:cNvPr>
          <p:cNvSpPr/>
          <p:nvPr/>
        </p:nvSpPr>
        <p:spPr>
          <a:xfrm>
            <a:off x="6290542" y="1280657"/>
            <a:ext cx="4897293" cy="260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4E677-0079-257A-2CD0-C362568904A8}"/>
              </a:ext>
            </a:extLst>
          </p:cNvPr>
          <p:cNvSpPr/>
          <p:nvPr/>
        </p:nvSpPr>
        <p:spPr>
          <a:xfrm>
            <a:off x="798391" y="1280658"/>
            <a:ext cx="4926049" cy="260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FE756-2BEB-2CFF-F6E9-D287251BA9A3}"/>
              </a:ext>
            </a:extLst>
          </p:cNvPr>
          <p:cNvSpPr txBox="1"/>
          <p:nvPr/>
        </p:nvSpPr>
        <p:spPr>
          <a:xfrm>
            <a:off x="796175" y="1400000"/>
            <a:ext cx="4909893" cy="24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Explainable AI Scoring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– Shows the reasons behind route scoring.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Vehicle-Aware Routing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– Bike, Car and Heavy Vehicle categories.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Village-Level Search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– District, taluk, village and point-to-point search.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68D6A1-CB42-A9C2-BE11-1C406970024F}"/>
              </a:ext>
            </a:extLst>
          </p:cNvPr>
          <p:cNvSpPr txBox="1"/>
          <p:nvPr/>
        </p:nvSpPr>
        <p:spPr>
          <a:xfrm>
            <a:off x="6287831" y="1400000"/>
            <a:ext cx="4780849" cy="24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Traffic Prediction &amp; What-if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– Current status, future records and congestion scenarios.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Alert Awareness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– Traffic, roadwork, accident and event alerts where data exists.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600" b="1" i="0" u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Transparent Data Labels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– LIVE, CSV, ESTIMATE or SIMULATED tags on results.</a:t>
            </a:r>
          </a:p>
        </p:txBody>
      </p:sp>
      <p:sp>
        <p:nvSpPr>
          <p:cNvPr id="129" name="Wow tile Explainable AI"/>
          <p:cNvSpPr/>
          <p:nvPr/>
        </p:nvSpPr>
        <p:spPr>
          <a:xfrm>
            <a:off x="790000" y="4560000"/>
            <a:ext cx="1560000" cy="14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30" name="Wow icon Explainable AI circle"/>
          <p:cNvSpPr/>
          <p:nvPr/>
        </p:nvSpPr>
        <p:spPr>
          <a:xfrm>
            <a:off x="1270000" y="4720000"/>
            <a:ext cx="600000" cy="6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31" name="Wow icon Explainable AI" descr="Wow icon Explainable 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00" y="4864000"/>
            <a:ext cx="312000" cy="312000"/>
          </a:xfrm>
          <a:prstGeom prst="rect">
            <a:avLst/>
          </a:prstGeom>
        </p:spPr>
      </p:pic>
      <p:sp>
        <p:nvSpPr>
          <p:cNvPr id="132" name="Wow label Explainable AI"/>
          <p:cNvSpPr txBox="1"/>
          <p:nvPr/>
        </p:nvSpPr>
        <p:spPr>
          <a:xfrm>
            <a:off x="840000" y="5380000"/>
            <a:ext cx="146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Explainable AI</a:t>
            </a:r>
          </a:p>
        </p:txBody>
      </p:sp>
      <p:sp>
        <p:nvSpPr>
          <p:cNvPr id="133" name="Wow tile Vehicle-Aware Routing"/>
          <p:cNvSpPr/>
          <p:nvPr/>
        </p:nvSpPr>
        <p:spPr>
          <a:xfrm>
            <a:off x="2480000" y="4560000"/>
            <a:ext cx="1560000" cy="14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34" name="Wow icon Vehicle-Aware Routing circle"/>
          <p:cNvSpPr/>
          <p:nvPr/>
        </p:nvSpPr>
        <p:spPr>
          <a:xfrm>
            <a:off x="2960000" y="4720000"/>
            <a:ext cx="600000" cy="6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35" name="Wow icon Vehicle-Aware Routing" descr="Wow icon Vehicle-Aware Rou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000" y="4864000"/>
            <a:ext cx="312000" cy="312000"/>
          </a:xfrm>
          <a:prstGeom prst="rect">
            <a:avLst/>
          </a:prstGeom>
        </p:spPr>
      </p:pic>
      <p:sp>
        <p:nvSpPr>
          <p:cNvPr id="136" name="Wow label Vehicle-Aware Routing"/>
          <p:cNvSpPr txBox="1"/>
          <p:nvPr/>
        </p:nvSpPr>
        <p:spPr>
          <a:xfrm>
            <a:off x="2530000" y="5380000"/>
            <a:ext cx="146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Vehicle-Aware Routing</a:t>
            </a:r>
          </a:p>
        </p:txBody>
      </p:sp>
      <p:sp>
        <p:nvSpPr>
          <p:cNvPr id="137" name="Wow tile Village Search"/>
          <p:cNvSpPr/>
          <p:nvPr/>
        </p:nvSpPr>
        <p:spPr>
          <a:xfrm>
            <a:off x="4170000" y="4560000"/>
            <a:ext cx="1560000" cy="14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38" name="Wow icon Village Search circle"/>
          <p:cNvSpPr/>
          <p:nvPr/>
        </p:nvSpPr>
        <p:spPr>
          <a:xfrm>
            <a:off x="4650000" y="4720000"/>
            <a:ext cx="600000" cy="6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39" name="Wow icon Village Search" descr="Wow icon Village 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000" y="4864000"/>
            <a:ext cx="312000" cy="312000"/>
          </a:xfrm>
          <a:prstGeom prst="rect">
            <a:avLst/>
          </a:prstGeom>
        </p:spPr>
      </p:pic>
      <p:sp>
        <p:nvSpPr>
          <p:cNvPr id="140" name="Wow label Village Search"/>
          <p:cNvSpPr txBox="1"/>
          <p:nvPr/>
        </p:nvSpPr>
        <p:spPr>
          <a:xfrm>
            <a:off x="4220000" y="5380000"/>
            <a:ext cx="146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Village Search</a:t>
            </a:r>
          </a:p>
        </p:txBody>
      </p:sp>
      <p:sp>
        <p:nvSpPr>
          <p:cNvPr id="141" name="Wow tile Traffic Prediction"/>
          <p:cNvSpPr/>
          <p:nvPr/>
        </p:nvSpPr>
        <p:spPr>
          <a:xfrm>
            <a:off x="6200000" y="4560000"/>
            <a:ext cx="1560000" cy="14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42" name="Wow icon Traffic Prediction circle"/>
          <p:cNvSpPr/>
          <p:nvPr/>
        </p:nvSpPr>
        <p:spPr>
          <a:xfrm>
            <a:off x="6680000" y="4720000"/>
            <a:ext cx="600000" cy="6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43" name="Wow icon Traffic Prediction" descr="Wow icon Traffic Predic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000" y="4864000"/>
            <a:ext cx="312000" cy="312000"/>
          </a:xfrm>
          <a:prstGeom prst="rect">
            <a:avLst/>
          </a:prstGeom>
        </p:spPr>
      </p:pic>
      <p:sp>
        <p:nvSpPr>
          <p:cNvPr id="144" name="Wow label Traffic Prediction"/>
          <p:cNvSpPr txBox="1"/>
          <p:nvPr/>
        </p:nvSpPr>
        <p:spPr>
          <a:xfrm>
            <a:off x="6250000" y="5380000"/>
            <a:ext cx="146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Traffic Prediction</a:t>
            </a:r>
          </a:p>
        </p:txBody>
      </p:sp>
      <p:sp>
        <p:nvSpPr>
          <p:cNvPr id="145" name="Wow tile Alert Awareness"/>
          <p:cNvSpPr/>
          <p:nvPr/>
        </p:nvSpPr>
        <p:spPr>
          <a:xfrm>
            <a:off x="7890000" y="4560000"/>
            <a:ext cx="1560000" cy="14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46" name="Wow icon Alert Awareness circle"/>
          <p:cNvSpPr/>
          <p:nvPr/>
        </p:nvSpPr>
        <p:spPr>
          <a:xfrm>
            <a:off x="8370000" y="4720000"/>
            <a:ext cx="600000" cy="6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47" name="Wow icon Alert Awareness" descr="Wow icon Alert Awaren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000" y="4864000"/>
            <a:ext cx="312000" cy="312000"/>
          </a:xfrm>
          <a:prstGeom prst="rect">
            <a:avLst/>
          </a:prstGeom>
        </p:spPr>
      </p:pic>
      <p:sp>
        <p:nvSpPr>
          <p:cNvPr id="148" name="Wow label Alert Awareness"/>
          <p:cNvSpPr txBox="1"/>
          <p:nvPr/>
        </p:nvSpPr>
        <p:spPr>
          <a:xfrm>
            <a:off x="7940000" y="5380000"/>
            <a:ext cx="146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Alert Awareness</a:t>
            </a:r>
          </a:p>
        </p:txBody>
      </p:sp>
      <p:sp>
        <p:nvSpPr>
          <p:cNvPr id="149" name="Wow tile Data Labels"/>
          <p:cNvSpPr/>
          <p:nvPr/>
        </p:nvSpPr>
        <p:spPr>
          <a:xfrm>
            <a:off x="9580000" y="4560000"/>
            <a:ext cx="1560000" cy="14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50" name="Wow icon Data Labels circle"/>
          <p:cNvSpPr/>
          <p:nvPr/>
        </p:nvSpPr>
        <p:spPr>
          <a:xfrm>
            <a:off x="10060000" y="4720000"/>
            <a:ext cx="600000" cy="60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51" name="Wow icon Data Labels" descr="Wow icon Data Label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000" y="4864000"/>
            <a:ext cx="312000" cy="312000"/>
          </a:xfrm>
          <a:prstGeom prst="rect">
            <a:avLst/>
          </a:prstGeom>
        </p:spPr>
      </p:pic>
      <p:sp>
        <p:nvSpPr>
          <p:cNvPr id="152" name="Wow label Data Labels"/>
          <p:cNvSpPr txBox="1"/>
          <p:nvPr/>
        </p:nvSpPr>
        <p:spPr>
          <a:xfrm>
            <a:off x="9630000" y="5380000"/>
            <a:ext cx="146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Data Labels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"/>
          <p:cNvSpPr txBox="1"/>
          <p:nvPr/>
        </p:nvSpPr>
        <p:spPr>
          <a:xfrm>
            <a:off x="160145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Vehicle Categories &amp; Route Optimization</a:t>
            </a:r>
          </a:p>
        </p:txBody>
      </p:sp>
      <p:sp>
        <p:nvSpPr>
          <p:cNvPr id="121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E1DF4-EA90-40D8-4EBE-1DB089A083D9}"/>
              </a:ext>
            </a:extLst>
          </p:cNvPr>
          <p:cNvSpPr txBox="1"/>
          <p:nvPr/>
        </p:nvSpPr>
        <p:spPr>
          <a:xfrm>
            <a:off x="1022759" y="1604674"/>
            <a:ext cx="6207092" cy="3015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378C9-C078-28C7-4C75-2C9E776A9D49}"/>
              </a:ext>
            </a:extLst>
          </p:cNvPr>
          <p:cNvSpPr txBox="1"/>
          <p:nvPr/>
        </p:nvSpPr>
        <p:spPr>
          <a:xfrm>
            <a:off x="690114" y="5082396"/>
            <a:ext cx="10811770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8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Route Flow</a:t>
            </a:r>
            <a:r>
              <a:rPr lang="en-US"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US" sz="1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Start location → Destination → Routing service → Score available routes → Recommend best option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Public routing services may return limited alternatives; routes are never invented.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94827B-8D58-D5FB-09EF-AF3F56A66555}"/>
              </a:ext>
            </a:extLst>
          </p:cNvPr>
          <p:cNvSpPr/>
          <p:nvPr/>
        </p:nvSpPr>
        <p:spPr>
          <a:xfrm>
            <a:off x="1024301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591A3-CCC9-FCBA-E18F-4078E8439E31}"/>
              </a:ext>
            </a:extLst>
          </p:cNvPr>
          <p:cNvSpPr txBox="1"/>
          <p:nvPr/>
        </p:nvSpPr>
        <p:spPr>
          <a:xfrm>
            <a:off x="1174301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Bike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Suitable road access.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Travel-time comparison.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247CC0-E9F8-1605-4D8C-14E62F7157B6}"/>
              </a:ext>
            </a:extLst>
          </p:cNvPr>
          <p:cNvSpPr/>
          <p:nvPr/>
        </p:nvSpPr>
        <p:spPr>
          <a:xfrm>
            <a:off x="4661772" y="1317587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 u="sng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004A45-5931-955B-015A-B30082E86A62}"/>
              </a:ext>
            </a:extLst>
          </p:cNvPr>
          <p:cNvSpPr/>
          <p:nvPr/>
        </p:nvSpPr>
        <p:spPr>
          <a:xfrm>
            <a:off x="8342376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91639D-B593-8CDC-3437-33387DEEE84B}"/>
              </a:ext>
            </a:extLst>
          </p:cNvPr>
          <p:cNvSpPr txBox="1"/>
          <p:nvPr/>
        </p:nvSpPr>
        <p:spPr>
          <a:xfrm>
            <a:off x="4811772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Car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Distance and duration comparison.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Congestion comparison.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Toll comparison.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0C5579-7108-4FC3-0754-BC1A45466868}"/>
              </a:ext>
            </a:extLst>
          </p:cNvPr>
          <p:cNvSpPr txBox="1"/>
          <p:nvPr/>
        </p:nvSpPr>
        <p:spPr>
          <a:xfrm>
            <a:off x="8492376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Heavy Vehicle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Apply verified road restrictions when available.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Show only routes actually returned by the routing engine.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"/>
          <p:cNvSpPr txBox="1"/>
          <p:nvPr/>
        </p:nvSpPr>
        <p:spPr>
          <a:xfrm>
            <a:off x="160145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Toll Cost &amp; Pollution Indicators</a:t>
            </a:r>
          </a:p>
        </p:txBody>
      </p:sp>
      <p:sp>
        <p:nvSpPr>
          <p:cNvPr id="121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E1DF4-EA90-40D8-4EBE-1DB089A083D9}"/>
              </a:ext>
            </a:extLst>
          </p:cNvPr>
          <p:cNvSpPr txBox="1"/>
          <p:nvPr/>
        </p:nvSpPr>
        <p:spPr>
          <a:xfrm>
            <a:off x="1022759" y="1604674"/>
            <a:ext cx="6207092" cy="3015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378C9-C078-28C7-4C75-2C9E776A9D49}"/>
              </a:ext>
            </a:extLst>
          </p:cNvPr>
          <p:cNvSpPr txBox="1"/>
          <p:nvPr/>
        </p:nvSpPr>
        <p:spPr>
          <a:xfrm>
            <a:off x="690114" y="5082396"/>
            <a:ext cx="10811770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8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Principle</a:t>
            </a:r>
            <a:r>
              <a:rPr lang="en-US"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Use verified data where available; clearly label estimates and simulations.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94827B-8D58-D5FB-09EF-AF3F56A66555}"/>
              </a:ext>
            </a:extLst>
          </p:cNvPr>
          <p:cNvSpPr/>
          <p:nvPr/>
        </p:nvSpPr>
        <p:spPr>
          <a:xfrm>
            <a:off x="1024301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591A3-CCC9-FCBA-E18F-4078E8439E31}"/>
              </a:ext>
            </a:extLst>
          </p:cNvPr>
          <p:cNvSpPr txBox="1"/>
          <p:nvPr/>
        </p:nvSpPr>
        <p:spPr>
          <a:xfrm>
            <a:off x="1174301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Toll Calculation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Identify toll plazas along the route.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Show vehicle-category price.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Calculate total toll cost.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Mark unverified prices as estimates.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247CC0-E9F8-1605-4D8C-14E62F7157B6}"/>
              </a:ext>
            </a:extLst>
          </p:cNvPr>
          <p:cNvSpPr/>
          <p:nvPr/>
        </p:nvSpPr>
        <p:spPr>
          <a:xfrm>
            <a:off x="4661772" y="1317587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 u="sng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004A45-5931-955B-015A-B30082E86A62}"/>
              </a:ext>
            </a:extLst>
          </p:cNvPr>
          <p:cNvSpPr/>
          <p:nvPr/>
        </p:nvSpPr>
        <p:spPr>
          <a:xfrm>
            <a:off x="8342376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91639D-B593-8CDC-3437-33387DEEE84B}"/>
              </a:ext>
            </a:extLst>
          </p:cNvPr>
          <p:cNvSpPr txBox="1"/>
          <p:nvPr/>
        </p:nvSpPr>
        <p:spPr>
          <a:xfrm>
            <a:off x="4811772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Pollution / AQI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Display AQI when a reliable source is connected.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Highlight areas only when supported by data.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Show source and timestamp.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0C5579-7108-4FC3-0754-BC1A45466868}"/>
              </a:ext>
            </a:extLst>
          </p:cNvPr>
          <p:cNvSpPr txBox="1"/>
          <p:nvPr/>
        </p:nvSpPr>
        <p:spPr>
          <a:xfrm>
            <a:off x="8492376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 Labels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LIVE DATA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CSV DATA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ESTIMATE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6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SIMULATED – never labelled as live.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"/>
          <p:cNvSpPr txBox="1"/>
          <p:nvPr/>
        </p:nvSpPr>
        <p:spPr>
          <a:xfrm>
            <a:off x="109303" y="108790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Modelling/Block Diagram/Flow of Project</a:t>
            </a:r>
          </a:p>
        </p:txBody>
      </p:sp>
      <p:sp>
        <p:nvSpPr>
          <p:cNvPr id="129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1" name="CSV frame"/>
          <p:cNvSpPr/>
          <p:nvPr/>
        </p:nvSpPr>
        <p:spPr>
          <a:xfrm>
            <a:off x="720000" y="1150000"/>
            <a:ext cx="2300000" cy="385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32" name="CSV header"/>
          <p:cNvSpPr/>
          <p:nvPr/>
        </p:nvSpPr>
        <p:spPr>
          <a:xfrm>
            <a:off x="720000" y="1150000"/>
            <a:ext cx="2300000" cy="48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dirty="0">
                <a:solidFill>
                  <a:srgbClr val="FFD700"/>
                </a:solidFill>
                <a:latin typeface="Times New Roman"/>
                <a:ea typeface="Times New Roman"/>
                <a:cs typeface="Times New Roman"/>
              </a:rPr>
              <a:t>CSV DATASETS</a:t>
            </a:r>
          </a:p>
        </p:txBody>
      </p:sp>
      <p:sp>
        <p:nvSpPr>
          <p:cNvPr id="133" name="CSV item 1"/>
          <p:cNvSpPr/>
          <p:nvPr/>
        </p:nvSpPr>
        <p:spPr>
          <a:xfrm>
            <a:off x="860000" y="1800000"/>
            <a:ext cx="2020000" cy="620000"/>
          </a:xfrm>
          <a:prstGeom prst="roundRect">
            <a:avLst>
              <a:gd name="adj" fmla="val 15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Traffic data</a:t>
            </a:r>
          </a:p>
        </p:txBody>
      </p:sp>
      <p:sp>
        <p:nvSpPr>
          <p:cNvPr id="134" name="CSV item 2"/>
          <p:cNvSpPr/>
          <p:nvPr/>
        </p:nvSpPr>
        <p:spPr>
          <a:xfrm>
            <a:off x="860000" y="2600000"/>
            <a:ext cx="2020000" cy="620000"/>
          </a:xfrm>
          <a:prstGeom prst="roundRect">
            <a:avLst>
              <a:gd name="adj" fmla="val 15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Prediction data</a:t>
            </a:r>
          </a:p>
        </p:txBody>
      </p:sp>
      <p:sp>
        <p:nvSpPr>
          <p:cNvPr id="135" name="CSV item 3"/>
          <p:cNvSpPr/>
          <p:nvPr/>
        </p:nvSpPr>
        <p:spPr>
          <a:xfrm>
            <a:off x="860000" y="3400000"/>
            <a:ext cx="2020000" cy="620000"/>
          </a:xfrm>
          <a:prstGeom prst="roundRect">
            <a:avLst>
              <a:gd name="adj" fmla="val 15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Route data</a:t>
            </a:r>
          </a:p>
        </p:txBody>
      </p:sp>
      <p:sp>
        <p:nvSpPr>
          <p:cNvPr id="136" name="CSV item 4"/>
          <p:cNvSpPr/>
          <p:nvPr/>
        </p:nvSpPr>
        <p:spPr>
          <a:xfrm>
            <a:off x="860000" y="4200000"/>
            <a:ext cx="2020000" cy="620000"/>
          </a:xfrm>
          <a:prstGeom prst="roundRect">
            <a:avLst>
              <a:gd name="adj" fmla="val 15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Location data</a:t>
            </a:r>
          </a:p>
        </p:txBody>
      </p:sp>
      <p:sp>
        <p:nvSpPr>
          <p:cNvPr id="137" name="Arrow 1"/>
          <p:cNvSpPr/>
          <p:nvPr/>
        </p:nvSpPr>
        <p:spPr>
          <a:xfrm>
            <a:off x="3070000" y="2900000"/>
            <a:ext cx="420000" cy="400000"/>
          </a:xfrm>
          <a:prstGeom prst="rightArrow">
            <a:avLst/>
          </a:prstGeom>
          <a:solidFill>
            <a:srgbClr val="FFD700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8" name="Backend frame"/>
          <p:cNvSpPr/>
          <p:nvPr/>
        </p:nvSpPr>
        <p:spPr>
          <a:xfrm>
            <a:off x="3550000" y="1150000"/>
            <a:ext cx="4250000" cy="385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39" name="Backend header"/>
          <p:cNvSpPr/>
          <p:nvPr/>
        </p:nvSpPr>
        <p:spPr>
          <a:xfrm>
            <a:off x="3550000" y="1150000"/>
            <a:ext cx="4250000" cy="48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dirty="0">
                <a:solidFill>
                  <a:srgbClr val="FFD700"/>
                </a:solidFill>
                <a:latin typeface="Times New Roman"/>
                <a:ea typeface="Times New Roman"/>
                <a:cs typeface="Times New Roman"/>
              </a:rPr>
              <a:t>FLASK BACKEND – IIC TRAFFIC AI</a:t>
            </a:r>
          </a:p>
        </p:txBody>
      </p:sp>
      <p:sp>
        <p:nvSpPr>
          <p:cNvPr id="140" name="Module 1"/>
          <p:cNvSpPr/>
          <p:nvPr/>
        </p:nvSpPr>
        <p:spPr>
          <a:xfrm>
            <a:off x="3700000" y="1800000"/>
            <a:ext cx="1950000" cy="1030000"/>
          </a:xfrm>
          <a:prstGeom prst="roundRect">
            <a:avLst>
              <a:gd name="adj" fmla="val 12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Load CSV &amp; Validate</a:t>
            </a:r>
          </a:p>
        </p:txBody>
      </p:sp>
      <p:sp>
        <p:nvSpPr>
          <p:cNvPr id="141" name="Module 2"/>
          <p:cNvSpPr/>
          <p:nvPr/>
        </p:nvSpPr>
        <p:spPr>
          <a:xfrm>
            <a:off x="5750000" y="1800000"/>
            <a:ext cx="1950000" cy="1030000"/>
          </a:xfrm>
          <a:prstGeom prst="roundRect">
            <a:avLst>
              <a:gd name="adj" fmla="val 12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API Endpoints</a:t>
            </a:r>
          </a:p>
        </p:txBody>
      </p:sp>
      <p:sp>
        <p:nvSpPr>
          <p:cNvPr id="142" name="Module 3"/>
          <p:cNvSpPr/>
          <p:nvPr/>
        </p:nvSpPr>
        <p:spPr>
          <a:xfrm>
            <a:off x="3700000" y="2950000"/>
            <a:ext cx="1950000" cy="1030000"/>
          </a:xfrm>
          <a:prstGeom prst="roundRect">
            <a:avLst>
              <a:gd name="adj" fmla="val 12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Traffic Score &amp; Alerts</a:t>
            </a:r>
          </a:p>
        </p:txBody>
      </p:sp>
      <p:sp>
        <p:nvSpPr>
          <p:cNvPr id="143" name="Module 4"/>
          <p:cNvSpPr/>
          <p:nvPr/>
        </p:nvSpPr>
        <p:spPr>
          <a:xfrm>
            <a:off x="5750000" y="2950000"/>
            <a:ext cx="1950000" cy="1030000"/>
          </a:xfrm>
          <a:prstGeom prst="roundRect">
            <a:avLst>
              <a:gd name="adj" fmla="val 12000"/>
            </a:avLst>
          </a:prstGeom>
          <a:solidFill>
            <a:srgbClr val="DDEFF8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Route Ranking</a:t>
            </a:r>
          </a:p>
        </p:txBody>
      </p:sp>
      <p:sp>
        <p:nvSpPr>
          <p:cNvPr id="144" name="External services"/>
          <p:cNvSpPr/>
          <p:nvPr/>
        </p:nvSpPr>
        <p:spPr>
          <a:xfrm>
            <a:off x="3700000" y="4160000"/>
            <a:ext cx="4000000" cy="700000"/>
          </a:xfrm>
          <a:prstGeom prst="roundRect">
            <a:avLst>
              <a:gd name="adj" fmla="val 12000"/>
            </a:avLst>
          </a:prstGeom>
          <a:solidFill>
            <a:srgbClr val="FFD700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External services: </a:t>
            </a:r>
            <a:r>
              <a:rPr lang="en-US" sz="1200" b="0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Nominatim geocoding • OSRM routing (if available)</a:t>
            </a:r>
          </a:p>
        </p:txBody>
      </p:sp>
      <p:sp>
        <p:nvSpPr>
          <p:cNvPr id="145" name="Arrow 2"/>
          <p:cNvSpPr/>
          <p:nvPr/>
        </p:nvSpPr>
        <p:spPr>
          <a:xfrm>
            <a:off x="7850000" y="2900000"/>
            <a:ext cx="420000" cy="400000"/>
          </a:xfrm>
          <a:prstGeom prst="rightArrow">
            <a:avLst/>
          </a:prstGeom>
          <a:solidFill>
            <a:srgbClr val="FFD700"/>
          </a:solidFill>
          <a:ln w="12700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6" name="Dashboard frame"/>
          <p:cNvSpPr/>
          <p:nvPr/>
        </p:nvSpPr>
        <p:spPr>
          <a:xfrm>
            <a:off x="8330000" y="1150000"/>
            <a:ext cx="3000000" cy="180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47" name="Dashboard header"/>
          <p:cNvSpPr/>
          <p:nvPr/>
        </p:nvSpPr>
        <p:spPr>
          <a:xfrm>
            <a:off x="8330000" y="1150000"/>
            <a:ext cx="3000000" cy="48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dirty="0">
                <a:solidFill>
                  <a:srgbClr val="FFD700"/>
                </a:solidFill>
                <a:latin typeface="Times New Roman"/>
                <a:ea typeface="Times New Roman"/>
                <a:cs typeface="Times New Roman"/>
              </a:rPr>
              <a:t>WEB DASHBOARD</a:t>
            </a:r>
          </a:p>
        </p:txBody>
      </p:sp>
      <p:sp>
        <p:nvSpPr>
          <p:cNvPr id="148" name="Dashboard body"/>
          <p:cNvSpPr txBox="1"/>
          <p:nvPr/>
        </p:nvSpPr>
        <p:spPr>
          <a:xfrm>
            <a:off x="8330000" y="1630000"/>
            <a:ext cx="300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HTML • CSS • JavaScript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Charts and controls</a:t>
            </a:r>
          </a:p>
        </p:txBody>
      </p:sp>
      <p:sp>
        <p:nvSpPr>
          <p:cNvPr id="149" name="Map frame"/>
          <p:cNvSpPr/>
          <p:nvPr/>
        </p:nvSpPr>
        <p:spPr>
          <a:xfrm>
            <a:off x="8330000" y="3200000"/>
            <a:ext cx="3000000" cy="180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50" name="Map header"/>
          <p:cNvSpPr/>
          <p:nvPr/>
        </p:nvSpPr>
        <p:spPr>
          <a:xfrm>
            <a:off x="8330000" y="3200000"/>
            <a:ext cx="3000000" cy="48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dirty="0">
                <a:solidFill>
                  <a:srgbClr val="FFD700"/>
                </a:solidFill>
                <a:latin typeface="Times New Roman"/>
                <a:ea typeface="Times New Roman"/>
                <a:cs typeface="Times New Roman"/>
              </a:rPr>
              <a:t>INTERACTIVE MAP</a:t>
            </a:r>
          </a:p>
        </p:txBody>
      </p:sp>
      <p:sp>
        <p:nvSpPr>
          <p:cNvPr id="151" name="Map body"/>
          <p:cNvSpPr txBox="1"/>
          <p:nvPr/>
        </p:nvSpPr>
        <p:spPr>
          <a:xfrm>
            <a:off x="8330000" y="3680000"/>
            <a:ext cx="300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60000" rIns="90000" bIns="6000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u="none" dirty="0">
                <a:solidFill>
                  <a:srgbClr val="156082"/>
                </a:solidFill>
                <a:latin typeface="Times New Roman"/>
                <a:ea typeface="Times New Roman"/>
                <a:cs typeface="Times New Roman"/>
              </a:rPr>
              <a:t>Leaflet • OpenStreetMap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Routes and markers</a:t>
            </a:r>
          </a:p>
        </p:txBody>
      </p:sp>
      <p:sp>
        <p:nvSpPr>
          <p:cNvPr id="152" name="Flow caption"/>
          <p:cNvSpPr/>
          <p:nvPr/>
        </p:nvSpPr>
        <p:spPr>
          <a:xfrm>
            <a:off x="720000" y="5300000"/>
            <a:ext cx="10610000" cy="760000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 selects locations and vehicle category → backend analyses available data → dashboard displays results.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Result/Outcomes</a:t>
            </a:r>
          </a:p>
        </p:txBody>
      </p:sp>
      <p:sp>
        <p:nvSpPr>
          <p:cNvPr id="133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59E06-5FC2-354C-38D0-517B56DD8EB4}"/>
              </a:ext>
            </a:extLst>
          </p:cNvPr>
          <p:cNvSpPr txBox="1"/>
          <p:nvPr/>
        </p:nvSpPr>
        <p:spPr>
          <a:xfrm>
            <a:off x="2300000" y="60695"/>
            <a:ext cx="750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TRAFFIC DASHBOARD &amp; ROUTE MAP</a:t>
            </a:r>
          </a:p>
        </p:txBody>
      </p:sp>
      <p:sp>
        <p:nvSpPr>
          <p:cNvPr id="135" name="Screenshot frame"/>
          <p:cNvSpPr/>
          <p:nvPr/>
        </p:nvSpPr>
        <p:spPr>
          <a:xfrm>
            <a:off x="924274" y="1020000"/>
            <a:ext cx="10341450" cy="5260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36" name="Outcome screenshot 1" descr="Outcome screenshot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74" y="1050000"/>
            <a:ext cx="10281450" cy="5200000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8200000" y="60000"/>
            <a:ext cx="3500000" cy="42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hlinkClick r:id="rId3"/>
              </a:rPr>
              <a:t>🚀 Open Live Dashboard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D174-F13B-6DCF-F044-F2C0778C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>
            <a:extLst>
              <a:ext uri="{FF2B5EF4-FFF2-40B4-BE49-F238E27FC236}">
                <a16:creationId xmlns:a16="http://schemas.microsoft.com/office/drawing/2014/main" id="{45D76988-76A8-2A60-00C8-F6E1168461A2}"/>
              </a:ext>
            </a:extLst>
          </p:cNvPr>
          <p:cNvSpPr txBox="1"/>
          <p:nvPr/>
        </p:nvSpPr>
        <p:spPr>
          <a:xfrm>
            <a:off x="109303" y="75660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Result/Outcomes</a:t>
            </a:r>
          </a:p>
        </p:txBody>
      </p:sp>
      <p:sp>
        <p:nvSpPr>
          <p:cNvPr id="133" name="Content Card">
            <a:extLst>
              <a:ext uri="{FF2B5EF4-FFF2-40B4-BE49-F238E27FC236}">
                <a16:creationId xmlns:a16="http://schemas.microsoft.com/office/drawing/2014/main" id="{80E2C1FD-829B-A7AF-EB95-C6713D420B5A}"/>
              </a:ext>
            </a:extLst>
          </p:cNvPr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BFEAD-1017-0D4A-84BA-50B7AC1AC2E7}"/>
              </a:ext>
            </a:extLst>
          </p:cNvPr>
          <p:cNvSpPr txBox="1"/>
          <p:nvPr/>
        </p:nvSpPr>
        <p:spPr>
          <a:xfrm>
            <a:off x="2300000" y="99367"/>
            <a:ext cx="750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ROUTE RECOMMENDATION</a:t>
            </a:r>
          </a:p>
        </p:txBody>
      </p:sp>
      <p:sp>
        <p:nvSpPr>
          <p:cNvPr id="135" name="Screenshot frame"/>
          <p:cNvSpPr/>
          <p:nvPr/>
        </p:nvSpPr>
        <p:spPr>
          <a:xfrm>
            <a:off x="570000" y="1090464"/>
            <a:ext cx="11050000" cy="511907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36" name="Outcome screenshot 2" descr="Outcome screensho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120464"/>
            <a:ext cx="10990000" cy="5059070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8200000" y="60000"/>
            <a:ext cx="3500000" cy="4200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hlinkClick r:id="rId3"/>
              </a:rPr>
              <a:t>🛣️ Explore Live Routes</a:t>
            </a:r>
          </a:p>
        </p:txBody>
      </p:sp>
    </p:spTree>
    <p:extLst>
      <p:ext uri="{BB962C8B-B14F-4D97-AF65-F5344CB8AC3E}">
        <p14:creationId xmlns:p14="http://schemas.microsoft.com/office/powerpoint/2010/main" val="1395361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D174-F13B-6DCF-F044-F2C0778C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>
            <a:extLst>
              <a:ext uri="{FF2B5EF4-FFF2-40B4-BE49-F238E27FC236}">
                <a16:creationId xmlns:a16="http://schemas.microsoft.com/office/drawing/2014/main" id="{45D76988-76A8-2A60-00C8-F6E1168461A2}"/>
              </a:ext>
            </a:extLst>
          </p:cNvPr>
          <p:cNvSpPr txBox="1"/>
          <p:nvPr/>
        </p:nvSpPr>
        <p:spPr>
          <a:xfrm>
            <a:off x="109303" y="75660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Result/Outcomes</a:t>
            </a:r>
          </a:p>
        </p:txBody>
      </p:sp>
      <p:sp>
        <p:nvSpPr>
          <p:cNvPr id="133" name="Content Card">
            <a:extLst>
              <a:ext uri="{FF2B5EF4-FFF2-40B4-BE49-F238E27FC236}">
                <a16:creationId xmlns:a16="http://schemas.microsoft.com/office/drawing/2014/main" id="{80E2C1FD-829B-A7AF-EB95-C6713D420B5A}"/>
              </a:ext>
            </a:extLst>
          </p:cNvPr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BFEAD-1017-0D4A-84BA-50B7AC1AC2E7}"/>
              </a:ext>
            </a:extLst>
          </p:cNvPr>
          <p:cNvSpPr txBox="1"/>
          <p:nvPr/>
        </p:nvSpPr>
        <p:spPr>
          <a:xfrm>
            <a:off x="2300000" y="99367"/>
            <a:ext cx="750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TOLL, POLLUTION &amp; FUTURE PREDICTION</a:t>
            </a:r>
          </a:p>
        </p:txBody>
      </p:sp>
      <p:sp>
        <p:nvSpPr>
          <p:cNvPr id="135" name="Screenshot frame"/>
          <p:cNvSpPr/>
          <p:nvPr/>
        </p:nvSpPr>
        <p:spPr>
          <a:xfrm>
            <a:off x="905372" y="1020000"/>
            <a:ext cx="10379254" cy="5260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36" name="Outcome screenshot 3" descr="Outcome screensho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72" y="1050000"/>
            <a:ext cx="10319254" cy="5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6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D174-F13B-6DCF-F044-F2C0778C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>
            <a:extLst>
              <a:ext uri="{FF2B5EF4-FFF2-40B4-BE49-F238E27FC236}">
                <a16:creationId xmlns:a16="http://schemas.microsoft.com/office/drawing/2014/main" id="{45D76988-76A8-2A60-00C8-F6E1168461A2}"/>
              </a:ext>
            </a:extLst>
          </p:cNvPr>
          <p:cNvSpPr txBox="1"/>
          <p:nvPr/>
        </p:nvSpPr>
        <p:spPr>
          <a:xfrm>
            <a:off x="109303" y="75660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Result/Outcomes</a:t>
            </a:r>
          </a:p>
        </p:txBody>
      </p:sp>
      <p:sp>
        <p:nvSpPr>
          <p:cNvPr id="133" name="Content Card">
            <a:extLst>
              <a:ext uri="{FF2B5EF4-FFF2-40B4-BE49-F238E27FC236}">
                <a16:creationId xmlns:a16="http://schemas.microsoft.com/office/drawing/2014/main" id="{80E2C1FD-829B-A7AF-EB95-C6713D420B5A}"/>
              </a:ext>
            </a:extLst>
          </p:cNvPr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BFEAD-1017-0D4A-84BA-50B7AC1AC2E7}"/>
              </a:ext>
            </a:extLst>
          </p:cNvPr>
          <p:cNvSpPr txBox="1"/>
          <p:nvPr/>
        </p:nvSpPr>
        <p:spPr>
          <a:xfrm>
            <a:off x="2300000" y="99367"/>
            <a:ext cx="750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TRAFFIC ANALYTICS &amp; DATA SOURCES</a:t>
            </a:r>
          </a:p>
        </p:txBody>
      </p:sp>
      <p:sp>
        <p:nvSpPr>
          <p:cNvPr id="135" name="Screenshot frame"/>
          <p:cNvSpPr/>
          <p:nvPr/>
        </p:nvSpPr>
        <p:spPr>
          <a:xfrm>
            <a:off x="883918" y="1020000"/>
            <a:ext cx="10422162" cy="5260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36" name="Outcome screenshot 4" descr="Outcome screensho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18" y="1050000"/>
            <a:ext cx="10362162" cy="5200000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7200000" y="2500000"/>
            <a:ext cx="4200000" cy="24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2563EB"/>
                </a:solidFill>
              </a:rPr>
              <a:t> Real Model Analytics Output (SUMO &amp; Flow Simulation):</a:t>
            </a:r>
          </a:p>
        </p:txBody>
      </p:sp>
      <p:pic>
        <p:nvPicPr>
          <p:cNvPr id="138" name="Picture 137" descr="traffic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2800000"/>
            <a:ext cx="4000000" cy="2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6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"/>
          <p:cNvSpPr txBox="1"/>
          <p:nvPr/>
        </p:nvSpPr>
        <p:spPr>
          <a:xfrm>
            <a:off x="160145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Data Transparency &amp; Limitations</a:t>
            </a:r>
          </a:p>
        </p:txBody>
      </p:sp>
      <p:sp>
        <p:nvSpPr>
          <p:cNvPr id="121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E1DF4-EA90-40D8-4EBE-1DB089A083D9}"/>
              </a:ext>
            </a:extLst>
          </p:cNvPr>
          <p:cNvSpPr txBox="1"/>
          <p:nvPr/>
        </p:nvSpPr>
        <p:spPr>
          <a:xfrm>
            <a:off x="1022759" y="1604674"/>
            <a:ext cx="6207092" cy="3015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378C9-C078-28C7-4C75-2C9E776A9D49}"/>
              </a:ext>
            </a:extLst>
          </p:cNvPr>
          <p:cNvSpPr txBox="1"/>
          <p:nvPr/>
        </p:nvSpPr>
        <p:spPr>
          <a:xfrm>
            <a:off x="690114" y="5082396"/>
            <a:ext cx="10811770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8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Rule</a:t>
            </a:r>
            <a:r>
              <a:rPr lang="en-US"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Always show data source, timestamp and live / CSV / estimated status.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94827B-8D58-D5FB-09EF-AF3F56A66555}"/>
              </a:ext>
            </a:extLst>
          </p:cNvPr>
          <p:cNvSpPr/>
          <p:nvPr/>
        </p:nvSpPr>
        <p:spPr>
          <a:xfrm>
            <a:off x="1024301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591A3-CCC9-FCBA-E18F-4078E8439E31}"/>
              </a:ext>
            </a:extLst>
          </p:cNvPr>
          <p:cNvSpPr txBox="1"/>
          <p:nvPr/>
        </p:nvSpPr>
        <p:spPr>
          <a:xfrm>
            <a:off x="1174301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Traffic Data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5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CSV predictions are not automatically live traffic measurements.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5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Vehicle movement is a simulation unless connected to real GPS/device data.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247CC0-E9F8-1605-4D8C-14E62F7157B6}"/>
              </a:ext>
            </a:extLst>
          </p:cNvPr>
          <p:cNvSpPr/>
          <p:nvPr/>
        </p:nvSpPr>
        <p:spPr>
          <a:xfrm>
            <a:off x="4661772" y="1317587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 u="sng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004A45-5931-955B-015A-B30082E86A62}"/>
              </a:ext>
            </a:extLst>
          </p:cNvPr>
          <p:cNvSpPr/>
          <p:nvPr/>
        </p:nvSpPr>
        <p:spPr>
          <a:xfrm>
            <a:off x="8342376" y="1317588"/>
            <a:ext cx="2856673" cy="3299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91639D-B593-8CDC-3437-33387DEEE84B}"/>
              </a:ext>
            </a:extLst>
          </p:cNvPr>
          <p:cNvSpPr txBox="1"/>
          <p:nvPr/>
        </p:nvSpPr>
        <p:spPr>
          <a:xfrm>
            <a:off x="4811772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Routing &amp; Coverage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5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Alternative routes depend on the routing engine; every possible road cannot be guaranteed.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5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Village coverage depends on CSV records or successful geocoding.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0C5579-7108-4FC3-0754-BC1A45466868}"/>
              </a:ext>
            </a:extLst>
          </p:cNvPr>
          <p:cNvSpPr txBox="1"/>
          <p:nvPr/>
        </p:nvSpPr>
        <p:spPr>
          <a:xfrm>
            <a:off x="8492376" y="1560000"/>
            <a:ext cx="2556673" cy="3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lang="en-US" sz="1800" b="1" i="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Toll &amp; Pollution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5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Toll charges require verified plaza and vehicle-category pricing data.</a:t>
            </a: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5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AQI needs a reliable source; otherwise label it unavailable or sample.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"/>
          <p:cNvSpPr txBox="1"/>
          <p:nvPr/>
        </p:nvSpPr>
        <p:spPr>
          <a:xfrm>
            <a:off x="117013" y="96705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Conclusion</a:t>
            </a:r>
            <a:endParaRPr lang="en-US" sz="2200" b="1" u="sng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BEC299-A805-CC2D-76F4-CC0A9AC3676A}"/>
              </a:ext>
            </a:extLst>
          </p:cNvPr>
          <p:cNvSpPr/>
          <p:nvPr/>
        </p:nvSpPr>
        <p:spPr>
          <a:xfrm>
            <a:off x="1841818" y="2626843"/>
            <a:ext cx="7924179" cy="2137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A387D-C4CF-17FF-2838-EB221F3EADFE}"/>
              </a:ext>
            </a:extLst>
          </p:cNvPr>
          <p:cNvSpPr txBox="1"/>
          <p:nvPr/>
        </p:nvSpPr>
        <p:spPr>
          <a:xfrm>
            <a:off x="2150000" y="2800000"/>
            <a:ext cx="7350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Integrates traffic records and prediction outputs.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Supports location search and map visualisation.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Helps compare available routes and traffic scores.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Creates a base for vehicle-specific routing.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Labels data as LIVE, CSV, ESTIMATE or SIMULATED for transparency.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C9B7C6-E135-876A-FD45-DF2ED0D13B55}"/>
              </a:ext>
            </a:extLst>
          </p:cNvPr>
          <p:cNvSpPr/>
          <p:nvPr/>
        </p:nvSpPr>
        <p:spPr>
          <a:xfrm>
            <a:off x="1736363" y="1370144"/>
            <a:ext cx="8350919" cy="670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C8BAC-AD16-42C8-6336-7654E387A0FB}"/>
              </a:ext>
            </a:extLst>
          </p:cNvPr>
          <p:cNvSpPr txBox="1"/>
          <p:nvPr/>
        </p:nvSpPr>
        <p:spPr>
          <a:xfrm>
            <a:off x="2326294" y="1492578"/>
            <a:ext cx="79330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IIC TRAFFIC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2289D2-0294-96A1-B317-2AEC9ADC3A56}"/>
              </a:ext>
            </a:extLst>
          </p:cNvPr>
          <p:cNvSpPr/>
          <p:nvPr/>
        </p:nvSpPr>
        <p:spPr>
          <a:xfrm>
            <a:off x="916853" y="5223276"/>
            <a:ext cx="10320616" cy="569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520DA-9E0B-5595-6130-E292E7F37E4D}"/>
              </a:ext>
            </a:extLst>
          </p:cNvPr>
          <p:cNvSpPr txBox="1"/>
          <p:nvPr/>
        </p:nvSpPr>
        <p:spPr>
          <a:xfrm>
            <a:off x="1593363" y="5342530"/>
            <a:ext cx="94123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Future Goal: 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 transparent, vehicle-aware route assistant for Chennai and surrounding areas.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/>
          <p:nvPr/>
        </p:nvSpPr>
        <p:spPr>
          <a:xfrm>
            <a:off x="117013" y="111082"/>
            <a:ext cx="9000000" cy="393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 lnSpcReduction="10000"/>
          </a:bodyPr>
          <a:lstStyle/>
          <a:p>
            <a:r>
              <a:rPr lang="en-US" sz="2200" b="1" u="sng" dirty="0">
                <a:solidFill>
                  <a:srgbClr val="002060"/>
                </a:solidFill>
                <a:latin typeface="Times New Roman"/>
                <a:cs typeface="Times New Roman"/>
              </a:rPr>
              <a:t>Future </a:t>
            </a:r>
            <a:r>
              <a:rPr lang="en-US" sz="2200" b="1" u="sng">
                <a:solidFill>
                  <a:srgbClr val="002060"/>
                </a:solidFill>
                <a:latin typeface="Times New Roman"/>
                <a:cs typeface="Times New Roman"/>
              </a:rPr>
              <a:t>perspective</a:t>
            </a:r>
            <a:endParaRPr lang="en-US" sz="2200" b="1" u="sng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37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F2A7C-526E-1340-40A5-CC35042794DF}"/>
              </a:ext>
            </a:extLst>
          </p:cNvPr>
          <p:cNvSpPr txBox="1"/>
          <p:nvPr/>
        </p:nvSpPr>
        <p:spPr>
          <a:xfrm>
            <a:off x="700000" y="1250000"/>
            <a:ext cx="4200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5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Verified Toll Pricing</a:t>
            </a:r>
            <a:r>
              <a:rPr lang="en-US" sz="1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Verify toll prices by vehicle class.</a:t>
            </a:r>
          </a:p>
          <a:p>
            <a:pPr marL="285750" indent="-28575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5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Live AQI</a:t>
            </a:r>
            <a:r>
              <a:rPr lang="en-US" sz="1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Connect a trusted live AQI provider.</a:t>
            </a:r>
          </a:p>
          <a:p>
            <a:pPr marL="285750" indent="-28575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5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GPS Tracking</a:t>
            </a:r>
            <a:r>
              <a:rPr lang="en-US" sz="1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Replace simulated movement with real GPS/device data.</a:t>
            </a:r>
          </a:p>
          <a:p>
            <a:pPr marL="285750" indent="-28575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5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Live Traffic Feeds</a:t>
            </a:r>
            <a:r>
              <a:rPr lang="en-US" sz="1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Integrate live traffic feeds.</a:t>
            </a:r>
          </a:p>
          <a:p>
            <a:pPr marL="285750" indent="-28575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5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Village Coverage</a:t>
            </a:r>
            <a:r>
              <a:rPr lang="en-US" sz="1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Expand and validate village-road coverage.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28D7D8-1162-7AE6-0301-A952656E1B1D}"/>
              </a:ext>
            </a:extLst>
          </p:cNvPr>
          <p:cNvSpPr/>
          <p:nvPr/>
        </p:nvSpPr>
        <p:spPr>
          <a:xfrm>
            <a:off x="1065936" y="4772944"/>
            <a:ext cx="8069698" cy="117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E2842-D06E-A948-41F1-32F5EBF5A6A8}"/>
              </a:ext>
            </a:extLst>
          </p:cNvPr>
          <p:cNvSpPr txBox="1"/>
          <p:nvPr/>
        </p:nvSpPr>
        <p:spPr>
          <a:xfrm>
            <a:off x="1421181" y="5200000"/>
            <a:ext cx="75693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Future Goal : </a:t>
            </a:r>
            <a:r>
              <a:rPr lang="en-US" sz="1500" b="0" i="0" u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 transparent, vehicle-aware route assistant for Chennai and surrounding areas.</a:t>
            </a:r>
          </a:p>
        </p:txBody>
      </p:sp>
      <p:sp>
        <p:nvSpPr>
          <p:cNvPr id="139" name="Future tile 1"/>
          <p:cNvSpPr/>
          <p:nvPr/>
        </p:nvSpPr>
        <p:spPr>
          <a:xfrm>
            <a:off x="5150000" y="1200000"/>
            <a:ext cx="1900000" cy="1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40" name="Future icon 1 circle"/>
          <p:cNvSpPr/>
          <p:nvPr/>
        </p:nvSpPr>
        <p:spPr>
          <a:xfrm>
            <a:off x="5780000" y="1380000"/>
            <a:ext cx="640000" cy="64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41" name="Future icon 1" descr="Future ico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600" y="1533600"/>
            <a:ext cx="332800" cy="332800"/>
          </a:xfrm>
          <a:prstGeom prst="rect">
            <a:avLst/>
          </a:prstGeom>
        </p:spPr>
      </p:pic>
      <p:sp>
        <p:nvSpPr>
          <p:cNvPr id="142" name="Future label 1"/>
          <p:cNvSpPr txBox="1"/>
          <p:nvPr/>
        </p:nvSpPr>
        <p:spPr>
          <a:xfrm>
            <a:off x="5210000" y="2100000"/>
            <a:ext cx="178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Verified Toll Pricing</a:t>
            </a:r>
          </a:p>
        </p:txBody>
      </p:sp>
      <p:sp>
        <p:nvSpPr>
          <p:cNvPr id="143" name="Future tile 2"/>
          <p:cNvSpPr/>
          <p:nvPr/>
        </p:nvSpPr>
        <p:spPr>
          <a:xfrm>
            <a:off x="7250000" y="1200000"/>
            <a:ext cx="1900000" cy="1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44" name="Future icon 2 circle"/>
          <p:cNvSpPr/>
          <p:nvPr/>
        </p:nvSpPr>
        <p:spPr>
          <a:xfrm>
            <a:off x="7880000" y="1380000"/>
            <a:ext cx="640000" cy="64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45" name="Future icon 2" descr="Future ic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600" y="1533600"/>
            <a:ext cx="332800" cy="332800"/>
          </a:xfrm>
          <a:prstGeom prst="rect">
            <a:avLst/>
          </a:prstGeom>
        </p:spPr>
      </p:pic>
      <p:sp>
        <p:nvSpPr>
          <p:cNvPr id="146" name="Future label 2"/>
          <p:cNvSpPr txBox="1"/>
          <p:nvPr/>
        </p:nvSpPr>
        <p:spPr>
          <a:xfrm>
            <a:off x="7310000" y="2100000"/>
            <a:ext cx="178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Live AQI Provider</a:t>
            </a:r>
          </a:p>
        </p:txBody>
      </p:sp>
      <p:sp>
        <p:nvSpPr>
          <p:cNvPr id="147" name="Future tile 3"/>
          <p:cNvSpPr/>
          <p:nvPr/>
        </p:nvSpPr>
        <p:spPr>
          <a:xfrm>
            <a:off x="9350000" y="1200000"/>
            <a:ext cx="1900000" cy="1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48" name="Future icon 3 circle"/>
          <p:cNvSpPr/>
          <p:nvPr/>
        </p:nvSpPr>
        <p:spPr>
          <a:xfrm>
            <a:off x="9980000" y="1380000"/>
            <a:ext cx="640000" cy="64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49" name="Future icon 3" descr="Future ic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600" y="1533600"/>
            <a:ext cx="332800" cy="332800"/>
          </a:xfrm>
          <a:prstGeom prst="rect">
            <a:avLst/>
          </a:prstGeom>
        </p:spPr>
      </p:pic>
      <p:sp>
        <p:nvSpPr>
          <p:cNvPr id="150" name="Future label 3"/>
          <p:cNvSpPr txBox="1"/>
          <p:nvPr/>
        </p:nvSpPr>
        <p:spPr>
          <a:xfrm>
            <a:off x="9410000" y="2100000"/>
            <a:ext cx="178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Real GPS Tracking</a:t>
            </a:r>
          </a:p>
        </p:txBody>
      </p:sp>
      <p:sp>
        <p:nvSpPr>
          <p:cNvPr id="151" name="Future tile 4"/>
          <p:cNvSpPr/>
          <p:nvPr/>
        </p:nvSpPr>
        <p:spPr>
          <a:xfrm>
            <a:off x="5150000" y="2940000"/>
            <a:ext cx="1900000" cy="1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52" name="Future icon 4 circle"/>
          <p:cNvSpPr/>
          <p:nvPr/>
        </p:nvSpPr>
        <p:spPr>
          <a:xfrm>
            <a:off x="5780000" y="3120000"/>
            <a:ext cx="640000" cy="64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53" name="Future icon 4" descr="Future ic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600" y="3273600"/>
            <a:ext cx="332800" cy="332800"/>
          </a:xfrm>
          <a:prstGeom prst="rect">
            <a:avLst/>
          </a:prstGeom>
        </p:spPr>
      </p:pic>
      <p:sp>
        <p:nvSpPr>
          <p:cNvPr id="154" name="Future label 4"/>
          <p:cNvSpPr txBox="1"/>
          <p:nvPr/>
        </p:nvSpPr>
        <p:spPr>
          <a:xfrm>
            <a:off x="5210000" y="3840000"/>
            <a:ext cx="178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Live Traffic Feeds</a:t>
            </a:r>
          </a:p>
        </p:txBody>
      </p:sp>
      <p:sp>
        <p:nvSpPr>
          <p:cNvPr id="155" name="Future tile 5"/>
          <p:cNvSpPr/>
          <p:nvPr/>
        </p:nvSpPr>
        <p:spPr>
          <a:xfrm>
            <a:off x="7250000" y="2940000"/>
            <a:ext cx="1900000" cy="1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56" name="Future icon 5 circle"/>
          <p:cNvSpPr/>
          <p:nvPr/>
        </p:nvSpPr>
        <p:spPr>
          <a:xfrm>
            <a:off x="7880000" y="3120000"/>
            <a:ext cx="640000" cy="64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57" name="Future icon 5" descr="Future ico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600" y="3273600"/>
            <a:ext cx="332800" cy="332800"/>
          </a:xfrm>
          <a:prstGeom prst="rect">
            <a:avLst/>
          </a:prstGeom>
        </p:spPr>
      </p:pic>
      <p:sp>
        <p:nvSpPr>
          <p:cNvPr id="158" name="Future label 5"/>
          <p:cNvSpPr txBox="1"/>
          <p:nvPr/>
        </p:nvSpPr>
        <p:spPr>
          <a:xfrm>
            <a:off x="7310000" y="3840000"/>
            <a:ext cx="178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Village-Road Coverage</a:t>
            </a:r>
          </a:p>
        </p:txBody>
      </p:sp>
      <p:sp>
        <p:nvSpPr>
          <p:cNvPr id="159" name="Future tile 6"/>
          <p:cNvSpPr/>
          <p:nvPr/>
        </p:nvSpPr>
        <p:spPr>
          <a:xfrm>
            <a:off x="9350000" y="2940000"/>
            <a:ext cx="1900000" cy="1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60" name="Future icon 6 circle"/>
          <p:cNvSpPr/>
          <p:nvPr/>
        </p:nvSpPr>
        <p:spPr>
          <a:xfrm>
            <a:off x="9980000" y="3120000"/>
            <a:ext cx="640000" cy="64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en-US"/>
          </a:p>
        </p:txBody>
      </p:sp>
      <p:pic>
        <p:nvPicPr>
          <p:cNvPr id="161" name="Future icon 6" descr="Future ico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3600" y="3273600"/>
            <a:ext cx="332800" cy="332800"/>
          </a:xfrm>
          <a:prstGeom prst="rect">
            <a:avLst/>
          </a:prstGeom>
        </p:spPr>
      </p:pic>
      <p:sp>
        <p:nvSpPr>
          <p:cNvPr id="162" name="Future label 6"/>
          <p:cNvSpPr txBox="1"/>
          <p:nvPr/>
        </p:nvSpPr>
        <p:spPr>
          <a:xfrm>
            <a:off x="9410000" y="3840000"/>
            <a:ext cx="178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dirty="0">
                <a:solidFill>
                  <a:srgbClr val="203263"/>
                </a:solidFill>
                <a:latin typeface="Times New Roman"/>
                <a:ea typeface="Times New Roman"/>
                <a:cs typeface="Times New Roman"/>
              </a:rPr>
              <a:t>Vehicle-Aware Assistant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D9DE6C-76E8-5DF6-C0AD-5DD093FB979A}"/>
              </a:ext>
            </a:extLst>
          </p:cNvPr>
          <p:cNvSpPr/>
          <p:nvPr/>
        </p:nvSpPr>
        <p:spPr>
          <a:xfrm>
            <a:off x="285698" y="884264"/>
            <a:ext cx="11626035" cy="53980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0D5D7E4D-3C3E-5B6C-3D56-30E42ADA7828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11382280" cy="566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800"/>
            </a:pPr>
            <a:r>
              <a:rPr lang="en-US" sz="6000" b="1">
                <a:solidFill>
                  <a:srgbClr val="213163"/>
                </a:solidFill>
              </a:rPr>
              <a:t>Thank You !!</a:t>
            </a:r>
          </a:p>
          <a:p>
            <a:pPr algn="ctr">
              <a:buSzPts val="2800"/>
            </a:pPr>
            <a:r>
              <a:rPr lang="en-US" sz="2800" b="1">
                <a:solidFill>
                  <a:srgbClr val="213163"/>
                </a:solidFill>
              </a:rPr>
              <a:t>IIC Traffic AI – Questions &amp; Discussion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0000" y="3600000"/>
            <a:ext cx="6192000" cy="23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300000" tIns="200000"/>
          <a:lstStyle/>
          <a:p>
            <a:pPr algn="ctr"/>
            <a:r>
              <a:rPr sz="1500" b="1">
                <a:solidFill>
                  <a:srgbClr val="1E293B"/>
                </a:solidFill>
              </a:rPr>
              <a:t>PROJECT LINKS &amp; REPOSITORY</a:t>
            </a:r>
          </a:p>
          <a:p>
            <a:pPr algn="ctr">
              <a:spcBef>
                <a:spcPts val="1000"/>
              </a:spcBef>
            </a:pPr>
            <a:r>
              <a:rPr sz="1300" b="1">
                <a:solidFill>
                  <a:srgbClr val="0F172A"/>
                </a:solidFill>
              </a:rPr>
              <a:t>🌐 Live Web Application:  </a:t>
            </a:r>
            <a:r>
              <a:rPr sz="1300" b="1" u="sng">
                <a:solidFill>
                  <a:srgbClr val="2563EB"/>
                </a:solidFill>
                <a:hlinkClick r:id="rId3"/>
              </a:rPr>
              <a:t>https://manikandan-5027.github.io/IIC-Traffic-AI-2/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</a:rPr>
              <a:t>💻 GitHub Source Code:  </a:t>
            </a:r>
            <a:r>
              <a:rPr sz="1300" b="1" u="sng">
                <a:solidFill>
                  <a:srgbClr val="2563EB"/>
                </a:solidFill>
                <a:hlinkClick r:id="rId4"/>
              </a:rPr>
              <a:t>https://github.com/MANIKANDAN-5027/IIC-Traffic-AI-2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Blank Pa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983</Words>
  <Application>Microsoft Office PowerPoint</Application>
  <PresentationFormat>Widescreen</PresentationFormat>
  <Paragraphs>190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Blank Page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Dulari Bhatt</dc:creator>
  <cp:lastModifiedBy>S.Manikandan Smiley</cp:lastModifiedBy>
  <cp:revision>703</cp:revision>
  <dcterms:created xsi:type="dcterms:W3CDTF">2024-05-21T11:55:07Z</dcterms:created>
  <dcterms:modified xsi:type="dcterms:W3CDTF">2026-10-24T06:33:28Z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287853FF-63D2-418E-BD9A-1C9576A118F2</vt:lpwstr>
  </property>
  <property fmtid="{D5CDD505-2E9C-101B-9397-08002B2CF9AE}" pid="3" name="ArticulatePath">
    <vt:lpwstr>https://edunetfoundationorg-my.sharepoint.com/personal/kaisar_edunetfoundation_org/Documents/Task/Microsoft Shell/Skills4Future/2025-26/Template/Shell - AI 1</vt:lpwstr>
  </property>
</Properties>
</file>